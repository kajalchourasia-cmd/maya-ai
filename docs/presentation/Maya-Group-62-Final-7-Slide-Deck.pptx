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Default Extension="png" ContentType="image/png"/>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06" d="100"/>
          <a:sy n="106" d="100"/>
        </p:scale>
        <p:origin x="-2450" y="-43"/>
      </p:cViewPr>
      <p:guideLst>
        <p:guide orient="horz" pos="2160"/>
        <p:guide pos="384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cover positions Maya as a complete product, architecture and evaluation case study. The hero is an original presentation composition inspired by the implemented landing page at http://localhost:5173/: its soft orbital language is retained without reproducing the website interface, and the actual Maya flower mark anchors the centre. Architecture claims are grounded in the repository architecture and execution plan.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recorded Maya walkthrough, then click “Watch the 2-minute demo”. Video URL: https://drive.google.com/file/d/1ZPV1fXbu57OIT5IvDuibPqoZ0_IiEKDy/view?usp=sharing</a:t>
            </a:r>
          </a:p>
          <a:p>
            <a:r>
              <a:t>This slide links to the user-supplied Drive video; it does not embed or download it. Confirm audience viewing permission before presenting. Screenshot: actual local Maya dashboard from reports/local/demo-video-20260917-v2/take-03/capture/kpis.png. The local recorded walkthrough is 119.77 seconds. Do not claim public deployment or clinical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Evidence: docs/MAYA-PLAN-FIX-AND-COMPACT-DASHBOARD-20260917.md and reports/local/ui-integration/compact-journey-plan-regression.xml in the maya-ai-product-preview repository. Backend: 847 passed, 44 skipped, 315 subtests passed, six warnings. Frontend: 37 tests passed; TypeScript passed in that recorded run.</a:t>
            </a:r>
          </a:p>
          <a:p>
            <a:r>
              <a:t>Live evidence: reports/local/demo-video-20260917-v2/DELIVERY-VERIFICATION.json records HTTP success for a balanced seven-day plan plus five exchanges: allergy, vegan follow-up, heartburn, urgent and secrets. Plan and the three routine health exchanges have real retrieval, source/context traces and live generation without fixture fallback. Urgent and secret requests use deterministic boundaries. These execution checks are not a measured medical-accuracy score. Known limitation: meal replies still favour food groups over concrete meal options.</a:t>
            </a:r>
          </a:p>
          <a:p>
            <a:r>
              <a:t>Local traces record routing, source IDs, applied context, provider requests, validation, elapsed time and estimated cost receipts; no hosted LangSmith dashboard is claimed as verified. Source: app/services/grounded_runtime.py and local integration reports. Test results are existing dated records, not a new suite run for this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Roadmap, not a claim of completed features. Immediate priorities: richer grounded answer coverage and meal specificity; consent-based clinician/care-coordinator handoff with explicit response expectations (never delay urgent help); private document upload/extraction with user confirmation of medicines, clinician instructions and appointments. Do not promise direct doctor connectivity or secure record storage as already implemented. Future proposals: opt-in WhatsApp, Indian-language and voice access, broader postpartum/recovery support, governed by clinical review and user pilots. These priorities follow the user’s requested future-scope discussion.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the audience. Group 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hyperlink" Target="https://drive.google.com/file/d/1ZPV1fXbu57OIT5IvDuibPqoZ0_IiEKDy/view?usp=sharing"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8F4"/>
        </a:solidFill>
        <a:effectLst/>
      </p:bgPr>
    </p:bg>
    <p:spTree>
      <p:nvGrpSpPr>
        <p:cNvPr id="1" name=""/>
        <p:cNvGrpSpPr/>
        <p:nvPr/>
      </p:nvGrpSpPr>
      <p:grpSpPr>
        <a:xfrm>
          <a:off x="0" y="0"/>
          <a:ext cx="0" cy="0"/>
          <a:chOff x="0" y="0"/>
          <a:chExt cx="0" cy="0"/>
        </a:xfrm>
      </p:grpSpPr>
      <p:pic>
        <p:nvPicPr>
          <p:cNvPr id="24" name="Picture 23"/>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xmlns="" id="{82E89F33-0F79-4B8E-853C-D0B75BA881DA}"/>
              </a:ext>
            </a:extLst>
          </p:cNvPr>
          <p:cNvSpPr>
            <a:spLocks noGrp="1"/>
          </p:cNvSpPr>
          <p:nvPr/>
        </p:nvSpPr>
        <p:spPr>
          <a:xfrm>
            <a:off x="552450" y="495300"/>
            <a:ext cx="3048000" cy="190500"/>
          </a:xfrm>
          <a:prstGeom prst="rect">
            <a:avLst/>
          </a:prstGeom>
          <a:noFill/>
          <a:ln w="0">
            <a:noFill/>
          </a:ln>
        </p:spPr>
        <p:txBody>
          <a:bodyPr wrap="square" lIns="0" tIns="0" rIns="0" bIns="0" anchor="t">
            <a:normAutofit/>
          </a:bodyPr>
          <a:lstStyle/>
          <a:p>
            <a:pPr algn="l">
              <a:lnSpc>
                <a:spcPct val="105000"/>
              </a:lnSpc>
              <a:buNone/>
              <a:defRPr sz="825" b="1" i="0">
                <a:solidFill>
                  <a:srgbClr val="6D6560"/>
                </a:solidFill>
                <a:latin typeface="Arial"/>
                <a:ea typeface="Arial"/>
                <a:cs typeface="Arial"/>
              </a:defRPr>
            </a:pPr>
            <a:r>
              <a:rPr sz="825" b="1" i="0">
                <a:solidFill>
                  <a:srgbClr val="6D6560"/>
                </a:solidFill>
                <a:latin typeface="Arial"/>
                <a:ea typeface="Arial"/>
                <a:cs typeface="Arial"/>
              </a:rPr>
              <a:t>GROUP 62 · CAPSTONE</a:t>
            </a:r>
          </a:p>
        </p:txBody>
      </p:sp>
      <p:sp>
        <p:nvSpPr>
          <p:cNvPr id="3" name="Rectangle 2">
            <a:extLst>
              <a:ext uri="{FF2B5EF4-FFF2-40B4-BE49-F238E27FC236}">
                <a16:creationId xmlns:a16="http://schemas.microsoft.com/office/drawing/2014/main" xmlns="" id="{F9F9C820-4E50-4223-B308-9D0850DAE7B5}"/>
              </a:ext>
            </a:extLst>
          </p:cNvPr>
          <p:cNvSpPr>
            <a:spLocks noGrp="1"/>
          </p:cNvSpPr>
          <p:nvPr/>
        </p:nvSpPr>
        <p:spPr>
          <a:xfrm>
            <a:off x="552450" y="1162050"/>
            <a:ext cx="4286250" cy="666750"/>
          </a:xfrm>
          <a:prstGeom prst="rect">
            <a:avLst/>
          </a:prstGeom>
          <a:noFill/>
          <a:ln w="0">
            <a:noFill/>
          </a:ln>
        </p:spPr>
        <p:txBody>
          <a:bodyPr wrap="square" lIns="0" tIns="0" rIns="0" bIns="0" anchor="t">
            <a:normAutofit fontScale="95785" lnSpcReduction="10000"/>
          </a:bodyPr>
          <a:lstStyle/>
          <a:p>
            <a:pPr algn="l">
              <a:lnSpc>
                <a:spcPct val="105000"/>
              </a:lnSpc>
              <a:buNone/>
              <a:defRPr sz="4350" b="1" i="0">
                <a:solidFill>
                  <a:srgbClr val="184B3E"/>
                </a:solidFill>
                <a:latin typeface="Georgia"/>
                <a:ea typeface="Georgia"/>
                <a:cs typeface="Georgia"/>
              </a:defRPr>
            </a:pPr>
            <a:r>
              <a:rPr sz="4350" b="1" i="0">
                <a:solidFill>
                  <a:srgbClr val="184B3E"/>
                </a:solidFill>
                <a:latin typeface="Georgia"/>
                <a:ea typeface="Georgia"/>
                <a:cs typeface="Georgia"/>
              </a:rPr>
              <a:t>Maya</a:t>
            </a:r>
          </a:p>
        </p:txBody>
      </p:sp>
      <p:sp>
        <p:nvSpPr>
          <p:cNvPr id="4" name="Rectangle 3">
            <a:extLst>
              <a:ext uri="{FF2B5EF4-FFF2-40B4-BE49-F238E27FC236}">
                <a16:creationId xmlns:a16="http://schemas.microsoft.com/office/drawing/2014/main" xmlns="" id="{C51401C2-BE09-42BE-9625-88D180F89CA5}"/>
              </a:ext>
            </a:extLst>
          </p:cNvPr>
          <p:cNvSpPr>
            <a:spLocks noGrp="1"/>
          </p:cNvSpPr>
          <p:nvPr/>
        </p:nvSpPr>
        <p:spPr>
          <a:xfrm>
            <a:off x="552450" y="1847850"/>
            <a:ext cx="5619750" cy="723900"/>
          </a:xfrm>
          <a:prstGeom prst="rect">
            <a:avLst/>
          </a:prstGeom>
          <a:noFill/>
          <a:ln w="0">
            <a:noFill/>
          </a:ln>
        </p:spPr>
        <p:txBody>
          <a:bodyPr wrap="square" lIns="0" tIns="0" rIns="0" bIns="0" anchor="t">
            <a:normAutofit/>
          </a:bodyPr>
          <a:lstStyle/>
          <a:p>
            <a:pPr algn="l">
              <a:lnSpc>
                <a:spcPct val="96000"/>
              </a:lnSpc>
              <a:buNone/>
              <a:defRPr sz="2400" b="1" i="0">
                <a:solidFill>
                  <a:srgbClr val="25211F"/>
                </a:solidFill>
                <a:latin typeface="Georgia"/>
                <a:ea typeface="Georgia"/>
                <a:cs typeface="Georgia"/>
              </a:defRPr>
            </a:pPr>
            <a:r>
              <a:rPr sz="2400" b="1" i="0">
                <a:solidFill>
                  <a:srgbClr val="25211F"/>
                </a:solidFill>
                <a:latin typeface="Georgia"/>
                <a:ea typeface="Georgia"/>
                <a:cs typeface="Georgia"/>
              </a:rPr>
              <a:t>An evidence-based companion for pregnancy and early motherhood</a:t>
            </a:r>
          </a:p>
        </p:txBody>
      </p:sp>
      <p:sp>
        <p:nvSpPr>
          <p:cNvPr id="5" name="Rectangle 4">
            <a:extLst>
              <a:ext uri="{FF2B5EF4-FFF2-40B4-BE49-F238E27FC236}">
                <a16:creationId xmlns:a16="http://schemas.microsoft.com/office/drawing/2014/main" xmlns="" id="{B4AAADCE-E16D-40AD-B098-BCFF5AAF1430}"/>
              </a:ext>
            </a:extLst>
          </p:cNvPr>
          <p:cNvSpPr>
            <a:spLocks noGrp="1"/>
          </p:cNvSpPr>
          <p:nvPr/>
        </p:nvSpPr>
        <p:spPr>
          <a:xfrm>
            <a:off x="552450" y="2733675"/>
            <a:ext cx="5619750" cy="781050"/>
          </a:xfrm>
          <a:prstGeom prst="rect">
            <a:avLst/>
          </a:prstGeom>
          <a:noFill/>
          <a:ln w="0">
            <a:noFill/>
          </a:ln>
        </p:spPr>
        <p:txBody>
          <a:bodyPr wrap="square" lIns="0" tIns="0" rIns="0" bIns="0" anchor="t">
            <a:normAutofit/>
          </a:bodyPr>
          <a:lstStyle/>
          <a:p>
            <a:pPr algn="l">
              <a:lnSpc>
                <a:spcPct val="116000"/>
              </a:lnSpc>
              <a:buNone/>
              <a:defRPr sz="1350" b="0" i="0">
                <a:solidFill>
                  <a:srgbClr val="6D6560"/>
                </a:solidFill>
                <a:latin typeface="Arial"/>
                <a:ea typeface="Arial"/>
                <a:cs typeface="Arial"/>
              </a:defRPr>
            </a:pPr>
            <a:r>
              <a:rPr sz="1350" b="0" i="0">
                <a:solidFill>
                  <a:srgbClr val="6D6560"/>
                </a:solidFill>
                <a:latin typeface="Arial"/>
                <a:ea typeface="Arial"/>
                <a:cs typeface="Arial"/>
              </a:rPr>
              <a:t>Built for real questions between appointments, Maya combines each mother’s confirmed context with reviewed maternal health guidance. It delivers clear answers, coordinated weekly plans and safer next steps.</a:t>
            </a:r>
          </a:p>
        </p:txBody>
      </p:sp>
      <p:sp>
        <p:nvSpPr>
          <p:cNvPr id="6" name="Straight Connector 5">
            <a:extLst>
              <a:ext uri="{FF2B5EF4-FFF2-40B4-BE49-F238E27FC236}">
                <a16:creationId xmlns:a16="http://schemas.microsoft.com/office/drawing/2014/main" xmlns="" id="{4CE05D95-C5EF-4CA6-9669-8DAA8D9A483F}"/>
              </a:ext>
            </a:extLst>
          </p:cNvPr>
          <p:cNvSpPr>
            <a:spLocks noGrp="1"/>
          </p:cNvSpPr>
          <p:nvPr/>
        </p:nvSpPr>
        <p:spPr>
          <a:xfrm>
            <a:off x="552450" y="3781425"/>
            <a:ext cx="4591050" cy="0"/>
          </a:xfrm>
          <a:prstGeom prst="line">
            <a:avLst/>
          </a:prstGeom>
          <a:noFill/>
          <a:ln w="9525">
            <a:solidFill>
              <a:srgbClr val="D7CEC8"/>
            </a:solidFill>
            <a:prstDash val="solid"/>
          </a:ln>
        </p:spPr>
      </p:sp>
      <p:sp>
        <p:nvSpPr>
          <p:cNvPr id="7" name="Rectangle 6">
            <a:extLst>
              <a:ext uri="{FF2B5EF4-FFF2-40B4-BE49-F238E27FC236}">
                <a16:creationId xmlns:a16="http://schemas.microsoft.com/office/drawing/2014/main" xmlns="" id="{9D0C5A3D-4A89-448C-8EE3-629D7B0C1630}"/>
              </a:ext>
            </a:extLst>
          </p:cNvPr>
          <p:cNvSpPr>
            <a:spLocks noGrp="1"/>
          </p:cNvSpPr>
          <p:nvPr/>
        </p:nvSpPr>
        <p:spPr>
          <a:xfrm>
            <a:off x="552450" y="3800475"/>
            <a:ext cx="2476500" cy="190500"/>
          </a:xfrm>
          <a:prstGeom prst="rect">
            <a:avLst/>
          </a:prstGeom>
          <a:noFill/>
          <a:ln w="0">
            <a:noFill/>
          </a:ln>
        </p:spPr>
        <p:txBody>
          <a:bodyPr wrap="square" lIns="0" tIns="0" rIns="0" bIns="0" anchor="t">
            <a:normAutofit/>
          </a:bodyPr>
          <a:lstStyle/>
          <a:p>
            <a:pPr algn="l">
              <a:lnSpc>
                <a:spcPct val="105000"/>
              </a:lnSpc>
              <a:buNone/>
              <a:defRPr sz="825" b="1" i="0">
                <a:solidFill>
                  <a:srgbClr val="7A2F52"/>
                </a:solidFill>
                <a:latin typeface="Arial"/>
                <a:ea typeface="Arial"/>
                <a:cs typeface="Arial"/>
              </a:defRPr>
            </a:pPr>
            <a:r>
              <a:rPr sz="825" b="1" i="0">
                <a:solidFill>
                  <a:srgbClr val="7A2F52"/>
                </a:solidFill>
                <a:latin typeface="Arial"/>
                <a:ea typeface="Arial"/>
                <a:cs typeface="Arial"/>
              </a:rPr>
              <a:t>PRODUCT OVERVIEW</a:t>
            </a:r>
          </a:p>
        </p:txBody>
      </p:sp>
      <p:sp>
        <p:nvSpPr>
          <p:cNvPr id="8" name="Rectangle 7">
            <a:extLst>
              <a:ext uri="{FF2B5EF4-FFF2-40B4-BE49-F238E27FC236}">
                <a16:creationId xmlns:a16="http://schemas.microsoft.com/office/drawing/2014/main" xmlns="" id="{87A06B4F-DFEF-40AF-BCC9-13FB3375208D}"/>
              </a:ext>
            </a:extLst>
          </p:cNvPr>
          <p:cNvSpPr>
            <a:spLocks noGrp="1"/>
          </p:cNvSpPr>
          <p:nvPr/>
        </p:nvSpPr>
        <p:spPr>
          <a:xfrm>
            <a:off x="552450" y="4324350"/>
            <a:ext cx="5143500" cy="609600"/>
          </a:xfrm>
          <a:prstGeom prst="rect">
            <a:avLst/>
          </a:prstGeom>
          <a:noFill/>
          <a:ln w="0">
            <a:noFill/>
          </a:ln>
        </p:spPr>
        <p:txBody>
          <a:bodyPr wrap="square" lIns="0" tIns="0" rIns="0" bIns="0" anchor="t">
            <a:normAutofit/>
          </a:bodyPr>
          <a:lstStyle/>
          <a:p>
            <a:pPr algn="l">
              <a:lnSpc>
                <a:spcPct val="118000"/>
              </a:lnSpc>
              <a:buNone/>
              <a:defRPr sz="1125" b="0" i="0">
                <a:solidFill>
                  <a:srgbClr val="25211F"/>
                </a:solidFill>
                <a:latin typeface="Arial"/>
                <a:ea typeface="Arial"/>
                <a:cs typeface="Arial"/>
              </a:defRPr>
            </a:pPr>
            <a:endParaRPr/>
          </a:p>
        </p:txBody>
      </p:sp>
      <p:pic>
        <p:nvPicPr>
          <p:cNvPr id="32" name="Picture 31"/>
          <p:cNvPicPr>
            <a:picLocks noChangeAspect="1"/>
          </p:cNvPicPr>
          <p:nvPr/>
        </p:nvPicPr>
        <p:blipFill>
          <a:blip r:embed="rId4"/>
          <a:stretch/>
        </p:blipFill>
        <p:spPr>
          <a:xfrm>
            <a:off x="8296275" y="3057525"/>
            <a:ext cx="685800" cy="685800"/>
          </a:xfrm>
          <a:prstGeom prst="rect">
            <a:avLst/>
          </a:prstGeom>
        </p:spPr>
      </p:pic>
      <p:sp>
        <p:nvSpPr>
          <p:cNvPr id="10" name="Rectangle 9">
            <a:extLst>
              <a:ext uri="{FF2B5EF4-FFF2-40B4-BE49-F238E27FC236}">
                <a16:creationId xmlns:a16="http://schemas.microsoft.com/office/drawing/2014/main" xmlns="" id="{DE8808F2-5097-489F-8B8E-E896EF174DFC}"/>
              </a:ext>
            </a:extLst>
          </p:cNvPr>
          <p:cNvSpPr>
            <a:spLocks noGrp="1"/>
          </p:cNvSpPr>
          <p:nvPr/>
        </p:nvSpPr>
        <p:spPr>
          <a:xfrm>
            <a:off x="552450" y="6191250"/>
            <a:ext cx="952500" cy="171450"/>
          </a:xfrm>
          <a:prstGeom prst="rect">
            <a:avLst/>
          </a:prstGeom>
          <a:noFill/>
          <a:ln w="0">
            <a:noFill/>
          </a:ln>
        </p:spPr>
        <p:txBody>
          <a:bodyPr wrap="square" lIns="0" tIns="0" rIns="0" bIns="0" anchor="t">
            <a:normAutofit/>
          </a:bodyPr>
          <a:lstStyle/>
          <a:p>
            <a:pPr algn="l">
              <a:lnSpc>
                <a:spcPct val="105000"/>
              </a:lnSpc>
              <a:buNone/>
              <a:defRPr sz="750" b="1" i="0">
                <a:solidFill>
                  <a:srgbClr val="6D6560"/>
                </a:solidFill>
                <a:latin typeface="Arial"/>
                <a:ea typeface="Arial"/>
                <a:cs typeface="Arial"/>
              </a:defRPr>
            </a:pPr>
            <a:r>
              <a:rPr sz="750" b="1" i="0">
                <a:solidFill>
                  <a:srgbClr val="6D6560"/>
                </a:solidFill>
                <a:latin typeface="Arial"/>
                <a:ea typeface="Arial"/>
                <a:cs typeface="Arial"/>
              </a:rPr>
              <a:t>2026</a:t>
            </a:r>
          </a:p>
        </p:txBody>
      </p:sp>
      <p:sp>
        <p:nvSpPr>
          <p:cNvPr id="13" name="Rounded Rectangle 12">
            <a:extLst>
              <a:ext uri="{FF2B5EF4-FFF2-40B4-BE49-F238E27FC236}">
                <a16:creationId xmlns:a16="http://schemas.microsoft.com/office/drawing/2014/main" xmlns="" id="{819DDD1A-AA3C-434F-B5AF-B07C85C685DA}"/>
              </a:ext>
            </a:extLst>
          </p:cNvPr>
          <p:cNvSpPr>
            <a:spLocks noGrp="1"/>
          </p:cNvSpPr>
          <p:nvPr/>
        </p:nvSpPr>
        <p:spPr>
          <a:xfrm>
            <a:off x="552450" y="4105275"/>
            <a:ext cx="1905000" cy="1143000"/>
          </a:xfrm>
          <a:prstGeom prst="roundRect">
            <a:avLst>
              <a:gd name="adj" fmla="val 13333"/>
            </a:avLst>
          </a:prstGeom>
          <a:solidFill>
            <a:srgbClr val="F7E9E6"/>
          </a:solidFill>
          <a:ln w="9525">
            <a:solidFill>
              <a:srgbClr val="E7C9C2"/>
            </a:solidFill>
            <a:prstDash val="solid"/>
          </a:ln>
        </p:spPr>
        <p:style>
          <a:lnRef idx="0">
            <a:scrgbClr r="0" g="0" b="0"/>
          </a:lnRef>
          <a:fillRef idx="0">
            <a:scrgbClr r="0" g="0" b="0"/>
          </a:fillRef>
          <a:effectRef idx="4">
            <a:scrgbClr r="0" g="0" b="0"/>
          </a:effectRef>
          <a:fontRef idx="major"/>
        </p:style>
      </p:sp>
      <p:sp>
        <p:nvSpPr>
          <p:cNvPr id="14" name="Rectangle 13">
            <a:extLst>
              <a:ext uri="{FF2B5EF4-FFF2-40B4-BE49-F238E27FC236}">
                <a16:creationId xmlns:a16="http://schemas.microsoft.com/office/drawing/2014/main" xmlns="" id="{E7069E9B-6F0A-4AF6-8486-20A879C5367A}"/>
              </a:ext>
            </a:extLst>
          </p:cNvPr>
          <p:cNvSpPr>
            <a:spLocks noGrp="1"/>
          </p:cNvSpPr>
          <p:nvPr/>
        </p:nvSpPr>
        <p:spPr>
          <a:xfrm>
            <a:off x="704850" y="4276725"/>
            <a:ext cx="1600200" cy="190500"/>
          </a:xfrm>
          <a:prstGeom prst="rect">
            <a:avLst/>
          </a:prstGeom>
          <a:noFill/>
          <a:ln w="0">
            <a:noFill/>
          </a:ln>
        </p:spPr>
        <p:txBody>
          <a:bodyPr wrap="square" lIns="0" tIns="0" rIns="0" bIns="0" anchor="t">
            <a:normAutofit/>
          </a:bodyPr>
          <a:lstStyle/>
          <a:p>
            <a:pPr algn="l">
              <a:lnSpc>
                <a:spcPct val="100000"/>
              </a:lnSpc>
              <a:buNone/>
              <a:defRPr sz="788" b="1">
                <a:solidFill>
                  <a:srgbClr val="7A2F52"/>
                </a:solidFill>
                <a:latin typeface="Arial"/>
                <a:ea typeface="Arial"/>
                <a:cs typeface="Arial"/>
              </a:defRPr>
            </a:pPr>
            <a:r>
              <a:rPr sz="788" b="1">
                <a:solidFill>
                  <a:srgbClr val="7A2F52"/>
                </a:solidFill>
                <a:latin typeface="Arial"/>
                <a:ea typeface="Arial"/>
                <a:cs typeface="Arial"/>
              </a:rPr>
              <a:t>PERSONAL JOURNEY</a:t>
            </a:r>
          </a:p>
        </p:txBody>
      </p:sp>
      <p:sp>
        <p:nvSpPr>
          <p:cNvPr id="15" name="Rectangle 14">
            <a:extLst>
              <a:ext uri="{FF2B5EF4-FFF2-40B4-BE49-F238E27FC236}">
                <a16:creationId xmlns:a16="http://schemas.microsoft.com/office/drawing/2014/main" xmlns="" id="{C50BBECB-777E-4C0C-BFE1-06C0074DF3D2}"/>
              </a:ext>
            </a:extLst>
          </p:cNvPr>
          <p:cNvSpPr>
            <a:spLocks noGrp="1"/>
          </p:cNvSpPr>
          <p:nvPr/>
        </p:nvSpPr>
        <p:spPr>
          <a:xfrm>
            <a:off x="704850" y="4543425"/>
            <a:ext cx="1600200" cy="552450"/>
          </a:xfrm>
          <a:prstGeom prst="rect">
            <a:avLst/>
          </a:prstGeom>
          <a:noFill/>
          <a:ln w="0">
            <a:noFill/>
          </a:ln>
        </p:spPr>
        <p:txBody>
          <a:bodyPr wrap="square" lIns="0" tIns="0" rIns="0" bIns="0" anchor="t">
            <a:normAutofit/>
          </a:bodyPr>
          <a:lstStyle/>
          <a:p>
            <a:pPr algn="l">
              <a:lnSpc>
                <a:spcPct val="112000"/>
              </a:lnSpc>
              <a:buNone/>
              <a:defRPr sz="975" b="0">
                <a:solidFill>
                  <a:srgbClr val="25211F"/>
                </a:solidFill>
                <a:latin typeface="Arial"/>
                <a:ea typeface="Arial"/>
                <a:cs typeface="Arial"/>
              </a:defRPr>
            </a:pPr>
            <a:r>
              <a:rPr sz="975" b="0">
                <a:solidFill>
                  <a:srgbClr val="25211F"/>
                </a:solidFill>
                <a:latin typeface="Arial"/>
                <a:ea typeface="Arial"/>
                <a:cs typeface="Arial"/>
              </a:rPr>
              <a:t>Stage, preferences and records shape each response.</a:t>
            </a:r>
          </a:p>
        </p:txBody>
      </p:sp>
      <p:sp>
        <p:nvSpPr>
          <p:cNvPr id="16" name="Rounded Rectangle 15">
            <a:extLst>
              <a:ext uri="{FF2B5EF4-FFF2-40B4-BE49-F238E27FC236}">
                <a16:creationId xmlns:a16="http://schemas.microsoft.com/office/drawing/2014/main" xmlns="" id="{CF3F6A0A-B9DA-4CD6-9A88-8171855D7205}"/>
              </a:ext>
            </a:extLst>
          </p:cNvPr>
          <p:cNvSpPr>
            <a:spLocks noGrp="1"/>
          </p:cNvSpPr>
          <p:nvPr/>
        </p:nvSpPr>
        <p:spPr>
          <a:xfrm>
            <a:off x="2609850" y="4105275"/>
            <a:ext cx="1905000" cy="1143000"/>
          </a:xfrm>
          <a:prstGeom prst="roundRect">
            <a:avLst>
              <a:gd name="adj" fmla="val 13333"/>
            </a:avLst>
          </a:prstGeom>
          <a:solidFill>
            <a:srgbClr val="EAF1ED"/>
          </a:solidFill>
          <a:ln w="9525">
            <a:solidFill>
              <a:srgbClr val="CBDAD2"/>
            </a:solidFill>
            <a:prstDash val="solid"/>
          </a:ln>
        </p:spPr>
        <p:style>
          <a:lnRef idx="0">
            <a:scrgbClr r="0" g="0" b="0"/>
          </a:lnRef>
          <a:fillRef idx="0">
            <a:scrgbClr r="0" g="0" b="0"/>
          </a:fillRef>
          <a:effectRef idx="4">
            <a:scrgbClr r="0" g="0" b="0"/>
          </a:effectRef>
          <a:fontRef idx="major"/>
        </p:style>
      </p:sp>
      <p:sp>
        <p:nvSpPr>
          <p:cNvPr id="17" name="Rectangle 16">
            <a:extLst>
              <a:ext uri="{FF2B5EF4-FFF2-40B4-BE49-F238E27FC236}">
                <a16:creationId xmlns:a16="http://schemas.microsoft.com/office/drawing/2014/main" xmlns="" id="{F51C2060-8569-41C4-A385-2BA2BFCFF1CE}"/>
              </a:ext>
            </a:extLst>
          </p:cNvPr>
          <p:cNvSpPr>
            <a:spLocks noGrp="1"/>
          </p:cNvSpPr>
          <p:nvPr/>
        </p:nvSpPr>
        <p:spPr>
          <a:xfrm>
            <a:off x="2762250" y="4276725"/>
            <a:ext cx="1600200" cy="190500"/>
          </a:xfrm>
          <a:prstGeom prst="rect">
            <a:avLst/>
          </a:prstGeom>
          <a:noFill/>
          <a:ln w="0">
            <a:noFill/>
          </a:ln>
        </p:spPr>
        <p:txBody>
          <a:bodyPr wrap="square" lIns="0" tIns="0" rIns="0" bIns="0" anchor="t">
            <a:normAutofit/>
          </a:bodyPr>
          <a:lstStyle/>
          <a:p>
            <a:pPr algn="l">
              <a:lnSpc>
                <a:spcPct val="100000"/>
              </a:lnSpc>
              <a:buNone/>
              <a:defRPr sz="788" b="1">
                <a:solidFill>
                  <a:srgbClr val="7A2F52"/>
                </a:solidFill>
                <a:latin typeface="Arial"/>
                <a:ea typeface="Arial"/>
                <a:cs typeface="Arial"/>
              </a:defRPr>
            </a:pPr>
            <a:r>
              <a:rPr sz="788" b="1">
                <a:solidFill>
                  <a:srgbClr val="7A2F52"/>
                </a:solidFill>
                <a:latin typeface="Arial"/>
                <a:ea typeface="Arial"/>
                <a:cs typeface="Arial"/>
              </a:rPr>
              <a:t>GOVERNED INTELLIGENCE</a:t>
            </a:r>
          </a:p>
        </p:txBody>
      </p:sp>
      <p:sp>
        <p:nvSpPr>
          <p:cNvPr id="18" name="Rectangle 17">
            <a:extLst>
              <a:ext uri="{FF2B5EF4-FFF2-40B4-BE49-F238E27FC236}">
                <a16:creationId xmlns:a16="http://schemas.microsoft.com/office/drawing/2014/main" xmlns="" id="{7A8228A1-C124-4D9B-BA21-EA826D5ED71D}"/>
              </a:ext>
            </a:extLst>
          </p:cNvPr>
          <p:cNvSpPr>
            <a:spLocks noGrp="1"/>
          </p:cNvSpPr>
          <p:nvPr/>
        </p:nvSpPr>
        <p:spPr>
          <a:xfrm>
            <a:off x="2762250" y="4543425"/>
            <a:ext cx="1600200" cy="552450"/>
          </a:xfrm>
          <a:prstGeom prst="rect">
            <a:avLst/>
          </a:prstGeom>
          <a:noFill/>
          <a:ln w="0">
            <a:noFill/>
          </a:ln>
        </p:spPr>
        <p:txBody>
          <a:bodyPr wrap="square" lIns="0" tIns="0" rIns="0" bIns="0" anchor="t">
            <a:normAutofit/>
          </a:bodyPr>
          <a:lstStyle/>
          <a:p>
            <a:pPr algn="l">
              <a:lnSpc>
                <a:spcPct val="112000"/>
              </a:lnSpc>
              <a:buNone/>
              <a:defRPr sz="975" b="0">
                <a:solidFill>
                  <a:srgbClr val="25211F"/>
                </a:solidFill>
                <a:latin typeface="Arial"/>
                <a:ea typeface="Arial"/>
                <a:cs typeface="Arial"/>
              </a:defRPr>
            </a:pPr>
            <a:r>
              <a:rPr sz="975" b="0">
                <a:solidFill>
                  <a:srgbClr val="25211F"/>
                </a:solidFill>
                <a:latin typeface="Arial"/>
                <a:ea typeface="Arial"/>
                <a:cs typeface="Arial"/>
              </a:rPr>
              <a:t>Reviewed evidence, RAG and eight specialists work together.</a:t>
            </a:r>
          </a:p>
        </p:txBody>
      </p:sp>
      <p:sp>
        <p:nvSpPr>
          <p:cNvPr id="19" name="Rounded Rectangle 18">
            <a:extLst>
              <a:ext uri="{FF2B5EF4-FFF2-40B4-BE49-F238E27FC236}">
                <a16:creationId xmlns:a16="http://schemas.microsoft.com/office/drawing/2014/main" xmlns="" id="{5D38F30F-E1C9-4AA7-BAAF-7B59601511AC}"/>
              </a:ext>
            </a:extLst>
          </p:cNvPr>
          <p:cNvSpPr>
            <a:spLocks noGrp="1"/>
          </p:cNvSpPr>
          <p:nvPr/>
        </p:nvSpPr>
        <p:spPr>
          <a:xfrm>
            <a:off x="4667250" y="4105275"/>
            <a:ext cx="1905000" cy="1143000"/>
          </a:xfrm>
          <a:prstGeom prst="roundRect">
            <a:avLst>
              <a:gd name="adj" fmla="val 13333"/>
            </a:avLst>
          </a:prstGeom>
          <a:solidFill>
            <a:srgbClr val="F5EEDC"/>
          </a:solidFill>
          <a:ln w="9525">
            <a:solidFill>
              <a:srgbClr val="E5D5A9"/>
            </a:solidFill>
            <a:prstDash val="solid"/>
          </a:ln>
        </p:spPr>
        <p:style>
          <a:lnRef idx="0">
            <a:scrgbClr r="0" g="0" b="0"/>
          </a:lnRef>
          <a:fillRef idx="0">
            <a:scrgbClr r="0" g="0" b="0"/>
          </a:fillRef>
          <a:effectRef idx="4">
            <a:scrgbClr r="0" g="0" b="0"/>
          </a:effectRef>
          <a:fontRef idx="major"/>
        </p:style>
      </p:sp>
      <p:sp>
        <p:nvSpPr>
          <p:cNvPr id="20" name="Rectangle 19">
            <a:extLst>
              <a:ext uri="{FF2B5EF4-FFF2-40B4-BE49-F238E27FC236}">
                <a16:creationId xmlns:a16="http://schemas.microsoft.com/office/drawing/2014/main" xmlns="" id="{383FF8BD-61AB-4976-B0AA-5AC5A78296F7}"/>
              </a:ext>
            </a:extLst>
          </p:cNvPr>
          <p:cNvSpPr>
            <a:spLocks noGrp="1"/>
          </p:cNvSpPr>
          <p:nvPr/>
        </p:nvSpPr>
        <p:spPr>
          <a:xfrm>
            <a:off x="4819650" y="4276725"/>
            <a:ext cx="1600200" cy="190500"/>
          </a:xfrm>
          <a:prstGeom prst="rect">
            <a:avLst/>
          </a:prstGeom>
          <a:noFill/>
          <a:ln w="0">
            <a:noFill/>
          </a:ln>
        </p:spPr>
        <p:txBody>
          <a:bodyPr wrap="square" lIns="0" tIns="0" rIns="0" bIns="0" anchor="t">
            <a:normAutofit/>
          </a:bodyPr>
          <a:lstStyle/>
          <a:p>
            <a:pPr algn="l">
              <a:lnSpc>
                <a:spcPct val="100000"/>
              </a:lnSpc>
              <a:buNone/>
              <a:defRPr sz="788" b="1">
                <a:solidFill>
                  <a:srgbClr val="7A2F52"/>
                </a:solidFill>
                <a:latin typeface="Arial"/>
                <a:ea typeface="Arial"/>
                <a:cs typeface="Arial"/>
              </a:defRPr>
            </a:pPr>
            <a:r>
              <a:rPr sz="788" b="1">
                <a:solidFill>
                  <a:srgbClr val="7A2F52"/>
                </a:solidFill>
                <a:latin typeface="Arial"/>
                <a:ea typeface="Arial"/>
                <a:cs typeface="Arial"/>
              </a:rPr>
              <a:t>SAFETY AND EVALS</a:t>
            </a:r>
          </a:p>
        </p:txBody>
      </p:sp>
      <p:sp>
        <p:nvSpPr>
          <p:cNvPr id="21" name="Rectangle 20">
            <a:extLst>
              <a:ext uri="{FF2B5EF4-FFF2-40B4-BE49-F238E27FC236}">
                <a16:creationId xmlns:a16="http://schemas.microsoft.com/office/drawing/2014/main" xmlns="" id="{E338C5C2-CBD2-478E-8F0A-DAD07567EF4C}"/>
              </a:ext>
            </a:extLst>
          </p:cNvPr>
          <p:cNvSpPr>
            <a:spLocks noGrp="1"/>
          </p:cNvSpPr>
          <p:nvPr/>
        </p:nvSpPr>
        <p:spPr>
          <a:xfrm>
            <a:off x="4819650" y="4543425"/>
            <a:ext cx="1600200" cy="552450"/>
          </a:xfrm>
          <a:prstGeom prst="rect">
            <a:avLst/>
          </a:prstGeom>
          <a:noFill/>
          <a:ln w="0">
            <a:noFill/>
          </a:ln>
        </p:spPr>
        <p:txBody>
          <a:bodyPr wrap="square" lIns="0" tIns="0" rIns="0" bIns="0" anchor="t">
            <a:normAutofit/>
          </a:bodyPr>
          <a:lstStyle/>
          <a:p>
            <a:pPr algn="l">
              <a:lnSpc>
                <a:spcPct val="112000"/>
              </a:lnSpc>
              <a:buNone/>
              <a:defRPr sz="975" b="0">
                <a:solidFill>
                  <a:srgbClr val="25211F"/>
                </a:solidFill>
                <a:latin typeface="Arial"/>
                <a:ea typeface="Arial"/>
                <a:cs typeface="Arial"/>
              </a:defRPr>
            </a:pPr>
            <a:r>
              <a:rPr sz="975" b="0">
                <a:solidFill>
                  <a:srgbClr val="25211F"/>
                </a:solidFill>
                <a:latin typeface="Arial"/>
                <a:ea typeface="Arial"/>
                <a:cs typeface="Arial"/>
              </a:rPr>
              <a:t>Deterministic routing and frozen tests protect every step.</a:t>
            </a:r>
          </a:p>
        </p:txBody>
      </p:sp>
    </p:spTree>
    <p:extLst>
      <p:ext uri="{BB962C8B-B14F-4D97-AF65-F5344CB8AC3E}">
        <p14:creationId xmlns:p14="http://schemas.microsoft.com/office/powerpoint/2010/main" xmlns="" val="1801789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9F4"/>
        </a:solidFill>
        <a:effectLst/>
      </p:bgPr>
    </p:bg>
    <p:spTree>
      <p:nvGrpSpPr>
        <p:cNvPr id="1" name=""/>
        <p:cNvGrpSpPr/>
        <p:nvPr/>
      </p:nvGrpSpPr>
      <p:grpSpPr>
        <a:xfrm>
          <a:off x="0" y="0"/>
          <a:ext cx="0" cy="0"/>
          <a:chOff x="0" y="0"/>
          <a:chExt cx="0" cy="0"/>
        </a:xfrm>
      </p:grpSpPr>
      <p:pic>
        <p:nvPicPr>
          <p:cNvPr id="41" name="Picture 1"/>
          <p:cNvPicPr>
            <a:picLocks noChangeAspect="1"/>
          </p:cNvPicPr>
          <p:nvPr/>
        </p:nvPicPr>
        <p:blipFill>
          <a:blip r:embed="rId3"/>
          <a:stretch>
            <a:fillRect/>
          </a:stretch>
        </p:blipFill>
        <p:spPr>
          <a:xfrm>
            <a:off x="0" y="0"/>
            <a:ext cx="4617720" cy="6858000"/>
          </a:xfrm>
          <a:prstGeom prst="rect">
            <a:avLst/>
          </a:prstGeom>
        </p:spPr>
      </p:pic>
      <p:sp>
        <p:nvSpPr>
          <p:cNvPr id="3" name="Rectangle 2">
            <a:extLst>
              <a:ext uri="{FF2B5EF4-FFF2-40B4-BE49-F238E27FC236}">
                <a16:creationId xmlns:a16="http://schemas.microsoft.com/office/drawing/2014/main" xmlns="" id="{DF0E97D6-A855-4DBA-90A4-02AD8E7EF1DB}"/>
              </a:ext>
            </a:extLst>
          </p:cNvPr>
          <p:cNvSpPr>
            <a:spLocks noGrp="1"/>
          </p:cNvSpPr>
          <p:nvPr/>
        </p:nvSpPr>
        <p:spPr>
          <a:xfrm>
            <a:off x="4315968" y="0"/>
            <a:ext cx="7882127" cy="6858000"/>
          </a:xfrm>
          <a:prstGeom prst="rect">
            <a:avLst/>
          </a:prstGeom>
          <a:solidFill>
            <a:srgbClr val="FCF9F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xmlns="" id="{9AF51627-F596-4D79-8C82-319157A9A212}"/>
              </a:ext>
            </a:extLst>
          </p:cNvPr>
          <p:cNvSpPr>
            <a:spLocks noGrp="1"/>
          </p:cNvSpPr>
          <p:nvPr/>
        </p:nvSpPr>
        <p:spPr>
          <a:xfrm>
            <a:off x="4800600" y="365760"/>
            <a:ext cx="3657600" cy="219456"/>
          </a:xfrm>
          <a:prstGeom prst="rect">
            <a:avLst/>
          </a:prstGeom>
          <a:noFill/>
        </p:spPr>
        <p:txBody>
          <a:bodyPr wrap="square" anchor="t">
            <a:spAutoFit/>
          </a:bodyPr>
          <a:lstStyle/>
          <a:p>
            <a:pPr algn="l">
              <a:buNone/>
            </a:pPr>
            <a:r>
              <a:rPr sz="819" b="1" i="0">
                <a:solidFill>
                  <a:srgbClr val="7A2F52"/>
                </a:solidFill>
                <a:latin typeface="Arial"/>
                <a:ea typeface="Arial"/>
                <a:cs typeface="Arial"/>
              </a:rPr>
              <a:t>THE PROBLEM + PRIMARY USER</a:t>
            </a:r>
          </a:p>
        </p:txBody>
      </p:sp>
      <p:sp>
        <p:nvSpPr>
          <p:cNvPr id="5" name="TextBox 4">
            <a:extLst>
              <a:ext uri="{FF2B5EF4-FFF2-40B4-BE49-F238E27FC236}">
                <a16:creationId xmlns:a16="http://schemas.microsoft.com/office/drawing/2014/main" xmlns="" id="{78A98229-8E18-41C3-974C-7A888AA2248B}"/>
              </a:ext>
            </a:extLst>
          </p:cNvPr>
          <p:cNvSpPr>
            <a:spLocks noGrp="1"/>
          </p:cNvSpPr>
          <p:nvPr/>
        </p:nvSpPr>
        <p:spPr>
          <a:xfrm>
            <a:off x="4800600" y="658368"/>
            <a:ext cx="6903720" cy="804672"/>
          </a:xfrm>
          <a:prstGeom prst="rect">
            <a:avLst/>
          </a:prstGeom>
          <a:noFill/>
        </p:spPr>
        <p:txBody>
          <a:bodyPr wrap="square" anchor="t">
            <a:spAutoFit/>
          </a:bodyPr>
          <a:lstStyle/>
          <a:p>
            <a:pPr algn="l">
              <a:buNone/>
            </a:pPr>
            <a:r>
              <a:rPr sz="2450" b="1" i="0">
                <a:solidFill>
                  <a:srgbClr val="184B3E"/>
                </a:solidFill>
                <a:latin typeface="Georgia"/>
                <a:ea typeface="Georgia"/>
                <a:cs typeface="Georgia"/>
              </a:rPr>
              <a:t>Maternal information is fragmented —
and context changes what matters.</a:t>
            </a:r>
          </a:p>
        </p:txBody>
      </p:sp>
      <p:sp>
        <p:nvSpPr>
          <p:cNvPr id="6" name="TextBox 5">
            <a:extLst>
              <a:ext uri="{FF2B5EF4-FFF2-40B4-BE49-F238E27FC236}">
                <a16:creationId xmlns:a16="http://schemas.microsoft.com/office/drawing/2014/main" xmlns="" id="{29444096-8AC9-4580-A64A-AC772BFCA9E3}"/>
              </a:ext>
            </a:extLst>
          </p:cNvPr>
          <p:cNvSpPr>
            <a:spLocks noGrp="1"/>
          </p:cNvSpPr>
          <p:nvPr/>
        </p:nvSpPr>
        <p:spPr>
          <a:xfrm>
            <a:off x="4800600" y="1691640"/>
            <a:ext cx="320040" cy="256032"/>
          </a:xfrm>
          <a:prstGeom prst="rect">
            <a:avLst/>
          </a:prstGeom>
          <a:noFill/>
        </p:spPr>
        <p:txBody>
          <a:bodyPr wrap="square" anchor="t">
            <a:spAutoFit/>
          </a:bodyPr>
          <a:lstStyle/>
          <a:p>
            <a:pPr algn="l">
              <a:buNone/>
            </a:pPr>
            <a:r>
              <a:rPr sz="850" b="1" i="0">
                <a:solidFill>
                  <a:srgbClr val="7A2F52"/>
                </a:solidFill>
                <a:latin typeface="Arial"/>
                <a:ea typeface="Arial"/>
                <a:cs typeface="Arial"/>
              </a:rPr>
              <a:t>01</a:t>
            </a:r>
          </a:p>
        </p:txBody>
      </p:sp>
      <p:sp>
        <p:nvSpPr>
          <p:cNvPr id="7" name="TextBox 6">
            <a:extLst>
              <a:ext uri="{FF2B5EF4-FFF2-40B4-BE49-F238E27FC236}">
                <a16:creationId xmlns:a16="http://schemas.microsoft.com/office/drawing/2014/main" xmlns="" id="{62D11D84-4540-4033-998D-65CA6070AEA3}"/>
              </a:ext>
            </a:extLst>
          </p:cNvPr>
          <p:cNvSpPr>
            <a:spLocks noGrp="1"/>
          </p:cNvSpPr>
          <p:nvPr/>
        </p:nvSpPr>
        <p:spPr>
          <a:xfrm>
            <a:off x="5148072" y="1682496"/>
            <a:ext cx="2898648" cy="256032"/>
          </a:xfrm>
          <a:prstGeom prst="rect">
            <a:avLst/>
          </a:prstGeom>
          <a:noFill/>
        </p:spPr>
        <p:txBody>
          <a:bodyPr wrap="square" anchor="t">
            <a:spAutoFit/>
          </a:bodyPr>
          <a:lstStyle/>
          <a:p>
            <a:pPr algn="l">
              <a:buNone/>
            </a:pPr>
            <a:r>
              <a:rPr sz="1160" b="1" i="0">
                <a:solidFill>
                  <a:srgbClr val="25211F"/>
                </a:solidFill>
                <a:latin typeface="Arial"/>
                <a:ea typeface="Arial"/>
                <a:cs typeface="Arial"/>
              </a:rPr>
              <a:t>Guidance lives in different places</a:t>
            </a:r>
          </a:p>
        </p:txBody>
      </p:sp>
      <p:sp>
        <p:nvSpPr>
          <p:cNvPr id="8" name="TextBox 7">
            <a:extLst>
              <a:ext uri="{FF2B5EF4-FFF2-40B4-BE49-F238E27FC236}">
                <a16:creationId xmlns:a16="http://schemas.microsoft.com/office/drawing/2014/main" xmlns="" id="{0891E7EA-1639-4AEE-95E6-EE59205E6DD0}"/>
              </a:ext>
            </a:extLst>
          </p:cNvPr>
          <p:cNvSpPr>
            <a:spLocks noGrp="1"/>
          </p:cNvSpPr>
          <p:nvPr/>
        </p:nvSpPr>
        <p:spPr>
          <a:xfrm>
            <a:off x="5148072" y="1929384"/>
            <a:ext cx="2898648" cy="457200"/>
          </a:xfrm>
          <a:prstGeom prst="rect">
            <a:avLst/>
          </a:prstGeom>
          <a:noFill/>
        </p:spPr>
        <p:txBody>
          <a:bodyPr wrap="square" anchor="t">
            <a:spAutoFit/>
          </a:bodyPr>
          <a:lstStyle/>
          <a:p>
            <a:pPr algn="l">
              <a:buNone/>
            </a:pPr>
            <a:r>
              <a:rPr sz="869" b="0" i="0">
                <a:solidFill>
                  <a:srgbClr val="6D6560"/>
                </a:solidFill>
                <a:latin typeface="Arial"/>
                <a:ea typeface="Arial"/>
                <a:cs typeface="Arial"/>
              </a:rPr>
              <a:t>Reports, prescriptions, appointments and daily advice rarely stay connected.</a:t>
            </a:r>
          </a:p>
        </p:txBody>
      </p:sp>
      <p:sp>
        <p:nvSpPr>
          <p:cNvPr id="9" name="TextBox 8">
            <a:extLst>
              <a:ext uri="{FF2B5EF4-FFF2-40B4-BE49-F238E27FC236}">
                <a16:creationId xmlns:a16="http://schemas.microsoft.com/office/drawing/2014/main" xmlns="" id="{2A502E48-E0AF-4D09-90E3-EF8B815D926F}"/>
              </a:ext>
            </a:extLst>
          </p:cNvPr>
          <p:cNvSpPr>
            <a:spLocks noGrp="1"/>
          </p:cNvSpPr>
          <p:nvPr/>
        </p:nvSpPr>
        <p:spPr>
          <a:xfrm>
            <a:off x="8229600" y="1691640"/>
            <a:ext cx="320040" cy="256032"/>
          </a:xfrm>
          <a:prstGeom prst="rect">
            <a:avLst/>
          </a:prstGeom>
          <a:noFill/>
        </p:spPr>
        <p:txBody>
          <a:bodyPr wrap="square" anchor="t">
            <a:spAutoFit/>
          </a:bodyPr>
          <a:lstStyle/>
          <a:p>
            <a:pPr algn="l">
              <a:buNone/>
            </a:pPr>
            <a:r>
              <a:rPr sz="850" b="1" i="0">
                <a:solidFill>
                  <a:srgbClr val="7A2F52"/>
                </a:solidFill>
                <a:latin typeface="Arial"/>
                <a:ea typeface="Arial"/>
                <a:cs typeface="Arial"/>
              </a:rPr>
              <a:t>02</a:t>
            </a:r>
          </a:p>
        </p:txBody>
      </p:sp>
      <p:sp>
        <p:nvSpPr>
          <p:cNvPr id="10" name="TextBox 9">
            <a:extLst>
              <a:ext uri="{FF2B5EF4-FFF2-40B4-BE49-F238E27FC236}">
                <a16:creationId xmlns:a16="http://schemas.microsoft.com/office/drawing/2014/main" xmlns="" id="{EAADD2A0-4B43-41F2-B932-9334A912A0DB}"/>
              </a:ext>
            </a:extLst>
          </p:cNvPr>
          <p:cNvSpPr>
            <a:spLocks noGrp="1"/>
          </p:cNvSpPr>
          <p:nvPr/>
        </p:nvSpPr>
        <p:spPr>
          <a:xfrm>
            <a:off x="8577072" y="1682496"/>
            <a:ext cx="3035808" cy="256032"/>
          </a:xfrm>
          <a:prstGeom prst="rect">
            <a:avLst/>
          </a:prstGeom>
          <a:noFill/>
        </p:spPr>
        <p:txBody>
          <a:bodyPr wrap="square" anchor="t">
            <a:spAutoFit/>
          </a:bodyPr>
          <a:lstStyle/>
          <a:p>
            <a:pPr algn="l">
              <a:buNone/>
            </a:pPr>
            <a:r>
              <a:rPr sz="1160" b="1" i="0">
                <a:solidFill>
                  <a:srgbClr val="25211F"/>
                </a:solidFill>
                <a:latin typeface="Arial"/>
                <a:ea typeface="Arial"/>
                <a:cs typeface="Arial"/>
              </a:rPr>
              <a:t>Generic answers miss personal context</a:t>
            </a:r>
          </a:p>
        </p:txBody>
      </p:sp>
      <p:sp>
        <p:nvSpPr>
          <p:cNvPr id="11" name="TextBox 10">
            <a:extLst>
              <a:ext uri="{FF2B5EF4-FFF2-40B4-BE49-F238E27FC236}">
                <a16:creationId xmlns:a16="http://schemas.microsoft.com/office/drawing/2014/main" xmlns="" id="{E1739503-4676-4657-B049-E577D4412672}"/>
              </a:ext>
            </a:extLst>
          </p:cNvPr>
          <p:cNvSpPr>
            <a:spLocks noGrp="1"/>
          </p:cNvSpPr>
          <p:nvPr/>
        </p:nvSpPr>
        <p:spPr>
          <a:xfrm>
            <a:off x="8577072" y="1929384"/>
            <a:ext cx="3035808" cy="457200"/>
          </a:xfrm>
          <a:prstGeom prst="rect">
            <a:avLst/>
          </a:prstGeom>
          <a:noFill/>
        </p:spPr>
        <p:txBody>
          <a:bodyPr wrap="square" anchor="t">
            <a:spAutoFit/>
          </a:bodyPr>
          <a:lstStyle/>
          <a:p>
            <a:pPr algn="l">
              <a:buNone/>
            </a:pPr>
            <a:r>
              <a:rPr sz="869" b="0" i="0">
                <a:solidFill>
                  <a:srgbClr val="6D6560"/>
                </a:solidFill>
                <a:latin typeface="Arial"/>
                <a:ea typeface="Arial"/>
                <a:cs typeface="Arial"/>
              </a:rPr>
              <a:t>Stage, symptoms, allergies and confirmed records change what is relevant.</a:t>
            </a:r>
          </a:p>
        </p:txBody>
      </p:sp>
      <p:sp>
        <p:nvSpPr>
          <p:cNvPr id="12" name="TextBox 11">
            <a:extLst>
              <a:ext uri="{FF2B5EF4-FFF2-40B4-BE49-F238E27FC236}">
                <a16:creationId xmlns:a16="http://schemas.microsoft.com/office/drawing/2014/main" xmlns="" id="{0D549A8A-93D9-4466-85EA-07B8BF350B38}"/>
              </a:ext>
            </a:extLst>
          </p:cNvPr>
          <p:cNvSpPr>
            <a:spLocks noGrp="1"/>
          </p:cNvSpPr>
          <p:nvPr/>
        </p:nvSpPr>
        <p:spPr>
          <a:xfrm>
            <a:off x="4800600" y="2578608"/>
            <a:ext cx="320040" cy="256032"/>
          </a:xfrm>
          <a:prstGeom prst="rect">
            <a:avLst/>
          </a:prstGeom>
          <a:noFill/>
        </p:spPr>
        <p:txBody>
          <a:bodyPr wrap="square" anchor="t">
            <a:spAutoFit/>
          </a:bodyPr>
          <a:lstStyle/>
          <a:p>
            <a:pPr algn="l">
              <a:buNone/>
            </a:pPr>
            <a:r>
              <a:rPr sz="850" b="1" i="0">
                <a:solidFill>
                  <a:srgbClr val="7A2F52"/>
                </a:solidFill>
                <a:latin typeface="Arial"/>
                <a:ea typeface="Arial"/>
                <a:cs typeface="Arial"/>
              </a:rPr>
              <a:t>03</a:t>
            </a:r>
          </a:p>
        </p:txBody>
      </p:sp>
      <p:sp>
        <p:nvSpPr>
          <p:cNvPr id="13" name="TextBox 12">
            <a:extLst>
              <a:ext uri="{FF2B5EF4-FFF2-40B4-BE49-F238E27FC236}">
                <a16:creationId xmlns:a16="http://schemas.microsoft.com/office/drawing/2014/main" xmlns="" id="{E2A45817-C7FB-483C-8648-859F5A9ED30F}"/>
              </a:ext>
            </a:extLst>
          </p:cNvPr>
          <p:cNvSpPr>
            <a:spLocks noGrp="1"/>
          </p:cNvSpPr>
          <p:nvPr/>
        </p:nvSpPr>
        <p:spPr>
          <a:xfrm>
            <a:off x="5148072" y="2569464"/>
            <a:ext cx="2898648" cy="256032"/>
          </a:xfrm>
          <a:prstGeom prst="rect">
            <a:avLst/>
          </a:prstGeom>
          <a:noFill/>
        </p:spPr>
        <p:txBody>
          <a:bodyPr wrap="square" anchor="t">
            <a:spAutoFit/>
          </a:bodyPr>
          <a:lstStyle/>
          <a:p>
            <a:pPr algn="l">
              <a:buNone/>
            </a:pPr>
            <a:r>
              <a:rPr sz="1160" b="1" i="0">
                <a:solidFill>
                  <a:srgbClr val="25211F"/>
                </a:solidFill>
                <a:latin typeface="Arial"/>
                <a:ea typeface="Arial"/>
                <a:cs typeface="Arial"/>
              </a:rPr>
              <a:t>Safety needs a deterministic route</a:t>
            </a:r>
          </a:p>
        </p:txBody>
      </p:sp>
      <p:sp>
        <p:nvSpPr>
          <p:cNvPr id="14" name="TextBox 13">
            <a:extLst>
              <a:ext uri="{FF2B5EF4-FFF2-40B4-BE49-F238E27FC236}">
                <a16:creationId xmlns:a16="http://schemas.microsoft.com/office/drawing/2014/main" xmlns="" id="{AF98FD0E-88DA-45DA-9501-B31A094AA9A3}"/>
              </a:ext>
            </a:extLst>
          </p:cNvPr>
          <p:cNvSpPr>
            <a:spLocks noGrp="1"/>
          </p:cNvSpPr>
          <p:nvPr/>
        </p:nvSpPr>
        <p:spPr>
          <a:xfrm>
            <a:off x="5148072" y="2816352"/>
            <a:ext cx="2898648" cy="457200"/>
          </a:xfrm>
          <a:prstGeom prst="rect">
            <a:avLst/>
          </a:prstGeom>
          <a:noFill/>
        </p:spPr>
        <p:txBody>
          <a:bodyPr wrap="square" anchor="t">
            <a:spAutoFit/>
          </a:bodyPr>
          <a:lstStyle/>
          <a:p>
            <a:pPr algn="l">
              <a:buNone/>
            </a:pPr>
            <a:r>
              <a:rPr sz="869" b="0" i="0">
                <a:solidFill>
                  <a:srgbClr val="6D6560"/>
                </a:solidFill>
                <a:latin typeface="Arial"/>
                <a:ea typeface="Arial"/>
                <a:cs typeface="Arial"/>
              </a:rPr>
              <a:t>Ambiguous symptoms require safety classification before generation.</a:t>
            </a:r>
          </a:p>
        </p:txBody>
      </p:sp>
      <p:sp>
        <p:nvSpPr>
          <p:cNvPr id="15" name="TextBox 14">
            <a:extLst>
              <a:ext uri="{FF2B5EF4-FFF2-40B4-BE49-F238E27FC236}">
                <a16:creationId xmlns:a16="http://schemas.microsoft.com/office/drawing/2014/main" xmlns="" id="{FEA7C042-9F32-4398-A3F5-2DC2F7328B37}"/>
              </a:ext>
            </a:extLst>
          </p:cNvPr>
          <p:cNvSpPr>
            <a:spLocks noGrp="1"/>
          </p:cNvSpPr>
          <p:nvPr/>
        </p:nvSpPr>
        <p:spPr>
          <a:xfrm>
            <a:off x="8229600" y="2578608"/>
            <a:ext cx="320040" cy="256032"/>
          </a:xfrm>
          <a:prstGeom prst="rect">
            <a:avLst/>
          </a:prstGeom>
          <a:noFill/>
        </p:spPr>
        <p:txBody>
          <a:bodyPr wrap="square" anchor="t">
            <a:spAutoFit/>
          </a:bodyPr>
          <a:lstStyle/>
          <a:p>
            <a:pPr algn="l">
              <a:buNone/>
            </a:pPr>
            <a:r>
              <a:rPr sz="850" b="1" i="0">
                <a:solidFill>
                  <a:srgbClr val="7A2F52"/>
                </a:solidFill>
                <a:latin typeface="Arial"/>
                <a:ea typeface="Arial"/>
                <a:cs typeface="Arial"/>
              </a:rPr>
              <a:t>04</a:t>
            </a:r>
          </a:p>
        </p:txBody>
      </p:sp>
      <p:sp>
        <p:nvSpPr>
          <p:cNvPr id="16" name="TextBox 15">
            <a:extLst>
              <a:ext uri="{FF2B5EF4-FFF2-40B4-BE49-F238E27FC236}">
                <a16:creationId xmlns:a16="http://schemas.microsoft.com/office/drawing/2014/main" xmlns="" id="{E8097C7A-571E-46B5-84BA-E5845F8D8051}"/>
              </a:ext>
            </a:extLst>
          </p:cNvPr>
          <p:cNvSpPr>
            <a:spLocks noGrp="1"/>
          </p:cNvSpPr>
          <p:nvPr/>
        </p:nvSpPr>
        <p:spPr>
          <a:xfrm>
            <a:off x="8577072" y="2569464"/>
            <a:ext cx="3035808" cy="256032"/>
          </a:xfrm>
          <a:prstGeom prst="rect">
            <a:avLst/>
          </a:prstGeom>
          <a:noFill/>
        </p:spPr>
        <p:txBody>
          <a:bodyPr wrap="square" anchor="t">
            <a:spAutoFit/>
          </a:bodyPr>
          <a:lstStyle/>
          <a:p>
            <a:pPr algn="l">
              <a:buNone/>
            </a:pPr>
            <a:r>
              <a:rPr sz="1160" b="1" i="0">
                <a:solidFill>
                  <a:srgbClr val="25211F"/>
                </a:solidFill>
                <a:latin typeface="Arial"/>
                <a:ea typeface="Arial"/>
                <a:cs typeface="Arial"/>
              </a:rPr>
              <a:t>New facts can invalidate old plans</a:t>
            </a:r>
          </a:p>
        </p:txBody>
      </p:sp>
      <p:sp>
        <p:nvSpPr>
          <p:cNvPr id="17" name="TextBox 16">
            <a:extLst>
              <a:ext uri="{FF2B5EF4-FFF2-40B4-BE49-F238E27FC236}">
                <a16:creationId xmlns:a16="http://schemas.microsoft.com/office/drawing/2014/main" xmlns="" id="{44D090A1-0C37-4194-BC5B-F0FC3FFEECDD}"/>
              </a:ext>
            </a:extLst>
          </p:cNvPr>
          <p:cNvSpPr>
            <a:spLocks noGrp="1"/>
          </p:cNvSpPr>
          <p:nvPr/>
        </p:nvSpPr>
        <p:spPr>
          <a:xfrm>
            <a:off x="8577072" y="2816352"/>
            <a:ext cx="3035808" cy="457200"/>
          </a:xfrm>
          <a:prstGeom prst="rect">
            <a:avLst/>
          </a:prstGeom>
          <a:noFill/>
        </p:spPr>
        <p:txBody>
          <a:bodyPr wrap="square" anchor="t">
            <a:spAutoFit/>
          </a:bodyPr>
          <a:lstStyle/>
          <a:p>
            <a:pPr algn="l">
              <a:buNone/>
            </a:pPr>
            <a:r>
              <a:rPr sz="869" b="0" i="0">
                <a:solidFill>
                  <a:srgbClr val="6D6560"/>
                </a:solidFill>
                <a:latin typeface="Arial"/>
                <a:ea typeface="Arial"/>
                <a:cs typeface="Arial"/>
              </a:rPr>
              <a:t>A changed restriction or record can make previous guidance stale.</a:t>
            </a:r>
          </a:p>
        </p:txBody>
      </p:sp>
      <p:sp>
        <p:nvSpPr>
          <p:cNvPr id="18" name="Rectangle 17">
            <a:extLst>
              <a:ext uri="{FF2B5EF4-FFF2-40B4-BE49-F238E27FC236}">
                <a16:creationId xmlns:a16="http://schemas.microsoft.com/office/drawing/2014/main" xmlns="" id="{C04673FE-7DFA-4042-8559-89752DA755FD}"/>
              </a:ext>
            </a:extLst>
          </p:cNvPr>
          <p:cNvSpPr>
            <a:spLocks noGrp="1"/>
          </p:cNvSpPr>
          <p:nvPr/>
        </p:nvSpPr>
        <p:spPr>
          <a:xfrm>
            <a:off x="4800600" y="3401568"/>
            <a:ext cx="6812280" cy="7315"/>
          </a:xfrm>
          <a:prstGeom prst="rect">
            <a:avLst/>
          </a:prstGeom>
          <a:solidFill>
            <a:srgbClr val="DED6C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xmlns="" id="{FEEB4347-8271-4A65-A51E-FE08B7098D8B}"/>
              </a:ext>
            </a:extLst>
          </p:cNvPr>
          <p:cNvSpPr>
            <a:spLocks noGrp="1"/>
          </p:cNvSpPr>
          <p:nvPr/>
        </p:nvSpPr>
        <p:spPr>
          <a:xfrm>
            <a:off x="4800600" y="3566160"/>
            <a:ext cx="2834640" cy="228600"/>
          </a:xfrm>
          <a:prstGeom prst="rect">
            <a:avLst/>
          </a:prstGeom>
          <a:noFill/>
        </p:spPr>
        <p:txBody>
          <a:bodyPr wrap="square" anchor="t">
            <a:spAutoFit/>
          </a:bodyPr>
          <a:lstStyle/>
          <a:p>
            <a:pPr algn="l">
              <a:buNone/>
            </a:pPr>
            <a:r>
              <a:rPr sz="819" b="1" i="0">
                <a:solidFill>
                  <a:srgbClr val="7A2F52"/>
                </a:solidFill>
                <a:latin typeface="Arial"/>
                <a:ea typeface="Arial"/>
                <a:cs typeface="Arial"/>
              </a:rPr>
              <a:t>WHO WE DESIGNED MAYA FOR</a:t>
            </a:r>
          </a:p>
        </p:txBody>
      </p:sp>
      <p:sp>
        <p:nvSpPr>
          <p:cNvPr id="20" name="TextBox 19">
            <a:extLst>
              <a:ext uri="{FF2B5EF4-FFF2-40B4-BE49-F238E27FC236}">
                <a16:creationId xmlns:a16="http://schemas.microsoft.com/office/drawing/2014/main" xmlns="" id="{4A8DDA43-69DD-4D84-BF03-B89DE8FF7C56}"/>
              </a:ext>
            </a:extLst>
          </p:cNvPr>
          <p:cNvSpPr>
            <a:spLocks noGrp="1"/>
          </p:cNvSpPr>
          <p:nvPr/>
        </p:nvSpPr>
        <p:spPr>
          <a:xfrm>
            <a:off x="4800600" y="3822191"/>
            <a:ext cx="6766560" cy="594360"/>
          </a:xfrm>
          <a:prstGeom prst="rect">
            <a:avLst/>
          </a:prstGeom>
          <a:noFill/>
        </p:spPr>
        <p:txBody>
          <a:bodyPr wrap="square" anchor="t">
            <a:spAutoFit/>
          </a:bodyPr>
          <a:lstStyle/>
          <a:p>
            <a:pPr algn="l">
              <a:buNone/>
            </a:pPr>
            <a:r>
              <a:rPr sz="1639" b="1" i="0">
                <a:solidFill>
                  <a:srgbClr val="184B3E"/>
                </a:solidFill>
                <a:latin typeface="Georgia"/>
                <a:ea typeface="Georgia"/>
                <a:cs typeface="Georgia"/>
              </a:rPr>
              <a:t>An English-speaking expecting or new mother in India, already under qualified care.</a:t>
            </a:r>
          </a:p>
        </p:txBody>
      </p:sp>
      <p:pic>
        <p:nvPicPr>
          <p:cNvPr id="60" name="Picture 20"/>
          <p:cNvPicPr>
            <a:picLocks noChangeAspect="1"/>
          </p:cNvPicPr>
          <p:nvPr/>
        </p:nvPicPr>
        <p:blipFill>
          <a:blip r:embed="rId4" cstate="print"/>
          <a:stretch>
            <a:fillRect/>
          </a:stretch>
        </p:blipFill>
        <p:spPr>
          <a:xfrm>
            <a:off x="4800600" y="4572000"/>
            <a:ext cx="786384" cy="786384"/>
          </a:xfrm>
          <a:prstGeom prst="rect">
            <a:avLst/>
          </a:prstGeom>
        </p:spPr>
      </p:pic>
      <p:sp>
        <p:nvSpPr>
          <p:cNvPr id="22" name="TextBox 21">
            <a:extLst>
              <a:ext uri="{FF2B5EF4-FFF2-40B4-BE49-F238E27FC236}">
                <a16:creationId xmlns:a16="http://schemas.microsoft.com/office/drawing/2014/main" xmlns="" id="{79EC997F-E2CE-47D2-81FE-46835695B807}"/>
              </a:ext>
            </a:extLst>
          </p:cNvPr>
          <p:cNvSpPr>
            <a:spLocks noGrp="1"/>
          </p:cNvSpPr>
          <p:nvPr/>
        </p:nvSpPr>
        <p:spPr>
          <a:xfrm>
            <a:off x="5733288" y="4590288"/>
            <a:ext cx="2240280" cy="201168"/>
          </a:xfrm>
          <a:prstGeom prst="rect">
            <a:avLst/>
          </a:prstGeom>
          <a:noFill/>
        </p:spPr>
        <p:txBody>
          <a:bodyPr wrap="square" anchor="t">
            <a:spAutoFit/>
          </a:bodyPr>
          <a:lstStyle/>
          <a:p>
            <a:pPr algn="l">
              <a:buNone/>
            </a:pPr>
            <a:r>
              <a:rPr sz="810" b="1" i="0">
                <a:solidFill>
                  <a:srgbClr val="7A2F52"/>
                </a:solidFill>
                <a:latin typeface="Arial"/>
                <a:ea typeface="Arial"/>
                <a:cs typeface="Arial"/>
              </a:rPr>
              <a:t>WORKING MOTHER</a:t>
            </a:r>
          </a:p>
        </p:txBody>
      </p:sp>
      <p:sp>
        <p:nvSpPr>
          <p:cNvPr id="23" name="TextBox 22">
            <a:extLst>
              <a:ext uri="{FF2B5EF4-FFF2-40B4-BE49-F238E27FC236}">
                <a16:creationId xmlns:a16="http://schemas.microsoft.com/office/drawing/2014/main" xmlns="" id="{255DA6AF-32E0-441D-B031-6490D1B85C50}"/>
              </a:ext>
            </a:extLst>
          </p:cNvPr>
          <p:cNvSpPr>
            <a:spLocks noGrp="1"/>
          </p:cNvSpPr>
          <p:nvPr/>
        </p:nvSpPr>
        <p:spPr>
          <a:xfrm>
            <a:off x="5733288" y="4855464"/>
            <a:ext cx="2331720" cy="594360"/>
          </a:xfrm>
          <a:prstGeom prst="rect">
            <a:avLst/>
          </a:prstGeom>
          <a:noFill/>
        </p:spPr>
        <p:txBody>
          <a:bodyPr wrap="square" anchor="t">
            <a:spAutoFit/>
          </a:bodyPr>
          <a:lstStyle/>
          <a:p>
            <a:pPr algn="l">
              <a:buNone/>
            </a:pPr>
            <a:r>
              <a:rPr sz="960" b="0" i="0">
                <a:solidFill>
                  <a:srgbClr val="6D6560"/>
                </a:solidFill>
                <a:latin typeface="Arial"/>
                <a:ea typeface="Arial"/>
                <a:cs typeface="Arial"/>
              </a:rPr>
              <a:t>Limited time · changing schedules · appointment days</a:t>
            </a:r>
          </a:p>
        </p:txBody>
      </p:sp>
      <p:pic>
        <p:nvPicPr>
          <p:cNvPr id="63" name="Picture 23"/>
          <p:cNvPicPr>
            <a:picLocks noChangeAspect="1"/>
          </p:cNvPicPr>
          <p:nvPr/>
        </p:nvPicPr>
        <p:blipFill>
          <a:blip r:embed="rId5" cstate="print"/>
          <a:stretch>
            <a:fillRect/>
          </a:stretch>
        </p:blipFill>
        <p:spPr>
          <a:xfrm>
            <a:off x="8275320" y="4572000"/>
            <a:ext cx="786384" cy="786384"/>
          </a:xfrm>
          <a:prstGeom prst="rect">
            <a:avLst/>
          </a:prstGeom>
        </p:spPr>
      </p:pic>
      <p:sp>
        <p:nvSpPr>
          <p:cNvPr id="25" name="TextBox 24">
            <a:extLst>
              <a:ext uri="{FF2B5EF4-FFF2-40B4-BE49-F238E27FC236}">
                <a16:creationId xmlns:a16="http://schemas.microsoft.com/office/drawing/2014/main" xmlns="" id="{D16C6B05-913C-4323-82E7-5509C932D147}"/>
              </a:ext>
            </a:extLst>
          </p:cNvPr>
          <p:cNvSpPr>
            <a:spLocks noGrp="1"/>
          </p:cNvSpPr>
          <p:nvPr/>
        </p:nvSpPr>
        <p:spPr>
          <a:xfrm>
            <a:off x="9208008" y="4590288"/>
            <a:ext cx="2240280" cy="201168"/>
          </a:xfrm>
          <a:prstGeom prst="rect">
            <a:avLst/>
          </a:prstGeom>
          <a:noFill/>
        </p:spPr>
        <p:txBody>
          <a:bodyPr wrap="square" anchor="t">
            <a:spAutoFit/>
          </a:bodyPr>
          <a:lstStyle/>
          <a:p>
            <a:pPr algn="l">
              <a:buNone/>
            </a:pPr>
            <a:r>
              <a:rPr sz="810" b="1" i="0">
                <a:solidFill>
                  <a:srgbClr val="7A2F52"/>
                </a:solidFill>
                <a:latin typeface="Arial"/>
                <a:ea typeface="Arial"/>
                <a:cs typeface="Arial"/>
              </a:rPr>
              <a:t>MOTHER AT HOME</a:t>
            </a:r>
          </a:p>
        </p:txBody>
      </p:sp>
      <p:sp>
        <p:nvSpPr>
          <p:cNvPr id="26" name="TextBox 25">
            <a:extLst>
              <a:ext uri="{FF2B5EF4-FFF2-40B4-BE49-F238E27FC236}">
                <a16:creationId xmlns:a16="http://schemas.microsoft.com/office/drawing/2014/main" xmlns="" id="{EC5D0B2D-ED0E-4323-9F57-16AB730F7DE3}"/>
              </a:ext>
            </a:extLst>
          </p:cNvPr>
          <p:cNvSpPr>
            <a:spLocks noGrp="1"/>
          </p:cNvSpPr>
          <p:nvPr/>
        </p:nvSpPr>
        <p:spPr>
          <a:xfrm>
            <a:off x="9208008" y="4855464"/>
            <a:ext cx="2331720" cy="594360"/>
          </a:xfrm>
          <a:prstGeom prst="rect">
            <a:avLst/>
          </a:prstGeom>
          <a:noFill/>
        </p:spPr>
        <p:txBody>
          <a:bodyPr wrap="square" anchor="t">
            <a:spAutoFit/>
          </a:bodyPr>
          <a:lstStyle/>
          <a:p>
            <a:pPr algn="l">
              <a:buNone/>
            </a:pPr>
            <a:r>
              <a:rPr sz="960" b="0" i="0">
                <a:solidFill>
                  <a:srgbClr val="6D6560"/>
                </a:solidFill>
                <a:latin typeface="Arial"/>
                <a:ea typeface="Arial"/>
                <a:cs typeface="Arial"/>
              </a:rPr>
              <a:t>Household routines · family advice · uneven rest</a:t>
            </a:r>
          </a:p>
        </p:txBody>
      </p:sp>
      <p:sp>
        <p:nvSpPr>
          <p:cNvPr id="27" name="Rounded Rectangle 26">
            <a:extLst>
              <a:ext uri="{FF2B5EF4-FFF2-40B4-BE49-F238E27FC236}">
                <a16:creationId xmlns:a16="http://schemas.microsoft.com/office/drawing/2014/main" xmlns="" id="{1FA411DD-AFA3-4F29-B6F2-2098780BDFD9}"/>
              </a:ext>
            </a:extLst>
          </p:cNvPr>
          <p:cNvSpPr>
            <a:spLocks noGrp="1"/>
          </p:cNvSpPr>
          <p:nvPr/>
        </p:nvSpPr>
        <p:spPr>
          <a:xfrm>
            <a:off x="4782312" y="5623560"/>
            <a:ext cx="6876288" cy="731520"/>
          </a:xfrm>
          <a:prstGeom prst="roundRect">
            <a:avLst/>
          </a:prstGeom>
          <a:solidFill>
            <a:srgbClr val="F6F7F1"/>
          </a:solidFill>
          <a:ln w="10160">
            <a:solidFill>
              <a:srgbClr val="DED6CC"/>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xmlns="" id="{0A7CC29F-B25A-4D61-802A-BB7B6E56B3B7}"/>
              </a:ext>
            </a:extLst>
          </p:cNvPr>
          <p:cNvSpPr>
            <a:spLocks noGrp="1"/>
          </p:cNvSpPr>
          <p:nvPr/>
        </p:nvSpPr>
        <p:spPr>
          <a:xfrm>
            <a:off x="4965192" y="5760720"/>
            <a:ext cx="1554480" cy="182880"/>
          </a:xfrm>
          <a:prstGeom prst="rect">
            <a:avLst/>
          </a:prstGeom>
          <a:noFill/>
        </p:spPr>
        <p:txBody>
          <a:bodyPr wrap="square" anchor="t">
            <a:spAutoFit/>
          </a:bodyPr>
          <a:lstStyle/>
          <a:p>
            <a:pPr algn="l">
              <a:buNone/>
            </a:pPr>
            <a:r>
              <a:rPr sz="850" b="1" i="0">
                <a:solidFill>
                  <a:srgbClr val="25211F"/>
                </a:solidFill>
                <a:latin typeface="Arial"/>
                <a:ea typeface="Arial"/>
                <a:cs typeface="Arial"/>
              </a:rPr>
              <a:t>Relevant now</a:t>
            </a:r>
          </a:p>
        </p:txBody>
      </p:sp>
      <p:sp>
        <p:nvSpPr>
          <p:cNvPr id="29" name="TextBox 28">
            <a:extLst>
              <a:ext uri="{FF2B5EF4-FFF2-40B4-BE49-F238E27FC236}">
                <a16:creationId xmlns:a16="http://schemas.microsoft.com/office/drawing/2014/main" xmlns="" id="{621F5250-28D3-4E14-BD2F-CB3739A59C05}"/>
              </a:ext>
            </a:extLst>
          </p:cNvPr>
          <p:cNvSpPr>
            <a:spLocks noGrp="1"/>
          </p:cNvSpPr>
          <p:nvPr/>
        </p:nvSpPr>
        <p:spPr>
          <a:xfrm>
            <a:off x="4965192" y="5989320"/>
            <a:ext cx="1554480" cy="237744"/>
          </a:xfrm>
          <a:prstGeom prst="rect">
            <a:avLst/>
          </a:prstGeom>
          <a:noFill/>
        </p:spPr>
        <p:txBody>
          <a:bodyPr wrap="square" anchor="t">
            <a:spAutoFit/>
          </a:bodyPr>
          <a:lstStyle/>
          <a:p>
            <a:pPr algn="l">
              <a:buNone/>
            </a:pPr>
            <a:r>
              <a:rPr sz="750" b="0" i="0">
                <a:solidFill>
                  <a:srgbClr val="6D6560"/>
                </a:solidFill>
                <a:latin typeface="Arial"/>
                <a:ea typeface="Arial"/>
                <a:cs typeface="Arial"/>
              </a:rPr>
              <a:t>week / postpartum stage</a:t>
            </a:r>
          </a:p>
        </p:txBody>
      </p:sp>
      <p:sp>
        <p:nvSpPr>
          <p:cNvPr id="30" name="TextBox 29">
            <a:extLst>
              <a:ext uri="{FF2B5EF4-FFF2-40B4-BE49-F238E27FC236}">
                <a16:creationId xmlns:a16="http://schemas.microsoft.com/office/drawing/2014/main" xmlns="" id="{AC57FC8C-B731-4A2D-B924-E537E355A01B}"/>
              </a:ext>
            </a:extLst>
          </p:cNvPr>
          <p:cNvSpPr>
            <a:spLocks noGrp="1"/>
          </p:cNvSpPr>
          <p:nvPr/>
        </p:nvSpPr>
        <p:spPr>
          <a:xfrm>
            <a:off x="6675120" y="5760720"/>
            <a:ext cx="1709928" cy="182880"/>
          </a:xfrm>
          <a:prstGeom prst="rect">
            <a:avLst/>
          </a:prstGeom>
          <a:noFill/>
        </p:spPr>
        <p:txBody>
          <a:bodyPr wrap="square" anchor="t">
            <a:spAutoFit/>
          </a:bodyPr>
          <a:lstStyle/>
          <a:p>
            <a:pPr algn="l">
              <a:buNone/>
            </a:pPr>
            <a:r>
              <a:rPr sz="850" b="1" i="0">
                <a:solidFill>
                  <a:srgbClr val="25211F"/>
                </a:solidFill>
                <a:latin typeface="Arial"/>
                <a:ea typeface="Arial"/>
                <a:cs typeface="Arial"/>
              </a:rPr>
              <a:t>Personal when confirmed</a:t>
            </a:r>
          </a:p>
        </p:txBody>
      </p:sp>
      <p:sp>
        <p:nvSpPr>
          <p:cNvPr id="31" name="TextBox 30">
            <a:extLst>
              <a:ext uri="{FF2B5EF4-FFF2-40B4-BE49-F238E27FC236}">
                <a16:creationId xmlns:a16="http://schemas.microsoft.com/office/drawing/2014/main" xmlns="" id="{B960C2BF-E457-4308-B01B-BCBE50B87949}"/>
              </a:ext>
            </a:extLst>
          </p:cNvPr>
          <p:cNvSpPr>
            <a:spLocks noGrp="1"/>
          </p:cNvSpPr>
          <p:nvPr/>
        </p:nvSpPr>
        <p:spPr>
          <a:xfrm>
            <a:off x="6675120" y="5989320"/>
            <a:ext cx="1709928" cy="237744"/>
          </a:xfrm>
          <a:prstGeom prst="rect">
            <a:avLst/>
          </a:prstGeom>
          <a:noFill/>
        </p:spPr>
        <p:txBody>
          <a:bodyPr wrap="square" anchor="t">
            <a:spAutoFit/>
          </a:bodyPr>
          <a:lstStyle/>
          <a:p>
            <a:pPr algn="l">
              <a:buNone/>
            </a:pPr>
            <a:r>
              <a:rPr sz="750" b="0" i="0">
                <a:solidFill>
                  <a:srgbClr val="6D6560"/>
                </a:solidFill>
                <a:latin typeface="Arial"/>
                <a:ea typeface="Arial"/>
                <a:cs typeface="Arial"/>
              </a:rPr>
              <a:t>allergies / restrictions / records</a:t>
            </a:r>
          </a:p>
        </p:txBody>
      </p:sp>
      <p:sp>
        <p:nvSpPr>
          <p:cNvPr id="32" name="TextBox 31">
            <a:extLst>
              <a:ext uri="{FF2B5EF4-FFF2-40B4-BE49-F238E27FC236}">
                <a16:creationId xmlns:a16="http://schemas.microsoft.com/office/drawing/2014/main" xmlns="" id="{B995DCA0-6901-485C-8178-C8395E1C0675}"/>
              </a:ext>
            </a:extLst>
          </p:cNvPr>
          <p:cNvSpPr>
            <a:spLocks noGrp="1"/>
          </p:cNvSpPr>
          <p:nvPr/>
        </p:nvSpPr>
        <p:spPr>
          <a:xfrm>
            <a:off x="8558784" y="5760720"/>
            <a:ext cx="1481328" cy="182880"/>
          </a:xfrm>
          <a:prstGeom prst="rect">
            <a:avLst/>
          </a:prstGeom>
          <a:noFill/>
        </p:spPr>
        <p:txBody>
          <a:bodyPr wrap="square" anchor="t">
            <a:spAutoFit/>
          </a:bodyPr>
          <a:lstStyle/>
          <a:p>
            <a:pPr algn="l">
              <a:buNone/>
            </a:pPr>
            <a:r>
              <a:rPr sz="850" b="1" i="0">
                <a:solidFill>
                  <a:srgbClr val="25211F"/>
                </a:solidFill>
                <a:latin typeface="Arial"/>
                <a:ea typeface="Arial"/>
                <a:cs typeface="Arial"/>
              </a:rPr>
              <a:t>Trust made visible</a:t>
            </a:r>
          </a:p>
        </p:txBody>
      </p:sp>
      <p:sp>
        <p:nvSpPr>
          <p:cNvPr id="33" name="TextBox 32">
            <a:extLst>
              <a:ext uri="{FF2B5EF4-FFF2-40B4-BE49-F238E27FC236}">
                <a16:creationId xmlns:a16="http://schemas.microsoft.com/office/drawing/2014/main" xmlns="" id="{09A4CC3F-56D8-47DE-8D7B-145FA8D65037}"/>
              </a:ext>
            </a:extLst>
          </p:cNvPr>
          <p:cNvSpPr>
            <a:spLocks noGrp="1"/>
          </p:cNvSpPr>
          <p:nvPr/>
        </p:nvSpPr>
        <p:spPr>
          <a:xfrm>
            <a:off x="8558784" y="5989320"/>
            <a:ext cx="1481328" cy="237744"/>
          </a:xfrm>
          <a:prstGeom prst="rect">
            <a:avLst/>
          </a:prstGeom>
          <a:noFill/>
        </p:spPr>
        <p:txBody>
          <a:bodyPr wrap="square" anchor="t">
            <a:spAutoFit/>
          </a:bodyPr>
          <a:lstStyle/>
          <a:p>
            <a:pPr algn="l">
              <a:buNone/>
            </a:pPr>
            <a:r>
              <a:rPr sz="750" b="0" i="0">
                <a:solidFill>
                  <a:srgbClr val="6D6560"/>
                </a:solidFill>
                <a:latin typeface="Arial"/>
                <a:ea typeface="Arial"/>
                <a:cs typeface="Arial"/>
              </a:rPr>
              <a:t>evidence / limits / uncertainty</a:t>
            </a:r>
          </a:p>
        </p:txBody>
      </p:sp>
      <p:sp>
        <p:nvSpPr>
          <p:cNvPr id="34" name="TextBox 33">
            <a:extLst>
              <a:ext uri="{FF2B5EF4-FFF2-40B4-BE49-F238E27FC236}">
                <a16:creationId xmlns:a16="http://schemas.microsoft.com/office/drawing/2014/main" xmlns="" id="{76AAE868-6675-4B85-807C-F09F0EAB9E8F}"/>
              </a:ext>
            </a:extLst>
          </p:cNvPr>
          <p:cNvSpPr>
            <a:spLocks noGrp="1"/>
          </p:cNvSpPr>
          <p:nvPr/>
        </p:nvSpPr>
        <p:spPr>
          <a:xfrm>
            <a:off x="10204704" y="5760720"/>
            <a:ext cx="1307592" cy="182880"/>
          </a:xfrm>
          <a:prstGeom prst="rect">
            <a:avLst/>
          </a:prstGeom>
          <a:noFill/>
        </p:spPr>
        <p:txBody>
          <a:bodyPr wrap="square" anchor="t">
            <a:spAutoFit/>
          </a:bodyPr>
          <a:lstStyle/>
          <a:p>
            <a:pPr algn="l">
              <a:buNone/>
            </a:pPr>
            <a:r>
              <a:rPr sz="850" b="1" i="0">
                <a:solidFill>
                  <a:srgbClr val="25211F"/>
                </a:solidFill>
                <a:latin typeface="Arial"/>
                <a:ea typeface="Arial"/>
                <a:cs typeface="Arial"/>
              </a:rPr>
              <a:t>Safety before fluency</a:t>
            </a:r>
          </a:p>
        </p:txBody>
      </p:sp>
      <p:sp>
        <p:nvSpPr>
          <p:cNvPr id="35" name="TextBox 34">
            <a:extLst>
              <a:ext uri="{FF2B5EF4-FFF2-40B4-BE49-F238E27FC236}">
                <a16:creationId xmlns:a16="http://schemas.microsoft.com/office/drawing/2014/main" xmlns="" id="{51786CE6-9100-48ED-9CBC-4122E7E30EDF}"/>
              </a:ext>
            </a:extLst>
          </p:cNvPr>
          <p:cNvSpPr>
            <a:spLocks noGrp="1"/>
          </p:cNvSpPr>
          <p:nvPr/>
        </p:nvSpPr>
        <p:spPr>
          <a:xfrm>
            <a:off x="10204704" y="5989320"/>
            <a:ext cx="1307592" cy="237744"/>
          </a:xfrm>
          <a:prstGeom prst="rect">
            <a:avLst/>
          </a:prstGeom>
          <a:noFill/>
        </p:spPr>
        <p:txBody>
          <a:bodyPr wrap="square" anchor="t">
            <a:spAutoFit/>
          </a:bodyPr>
          <a:lstStyle/>
          <a:p>
            <a:pPr algn="l">
              <a:buNone/>
            </a:pPr>
            <a:r>
              <a:rPr sz="750" b="0" i="0">
                <a:solidFill>
                  <a:srgbClr val="6D6560"/>
                </a:solidFill>
                <a:latin typeface="Arial"/>
                <a:ea typeface="Arial"/>
                <a:cs typeface="Arial"/>
              </a:rPr>
              <a:t>urgent routing first</a:t>
            </a:r>
          </a:p>
        </p:txBody>
      </p:sp>
      <p:sp>
        <p:nvSpPr>
          <p:cNvPr id="36" name="TextBox 35">
            <a:extLst>
              <a:ext uri="{FF2B5EF4-FFF2-40B4-BE49-F238E27FC236}">
                <a16:creationId xmlns:a16="http://schemas.microsoft.com/office/drawing/2014/main" xmlns="" id="{DFE7261E-5E8D-42FC-A15F-9CA5D7FCC807}"/>
              </a:ext>
            </a:extLst>
          </p:cNvPr>
          <p:cNvSpPr>
            <a:spLocks noGrp="1"/>
          </p:cNvSpPr>
          <p:nvPr/>
        </p:nvSpPr>
        <p:spPr>
          <a:xfrm>
            <a:off x="4800600" y="6528816"/>
            <a:ext cx="1097280" cy="146304"/>
          </a:xfrm>
          <a:prstGeom prst="rect">
            <a:avLst/>
          </a:prstGeom>
          <a:noFill/>
        </p:spPr>
        <p:txBody>
          <a:bodyPr wrap="square" anchor="t">
            <a:spAutoFit/>
          </a:bodyPr>
          <a:lstStyle/>
          <a:p>
            <a:pPr algn="l">
              <a:buNone/>
            </a:pPr>
            <a:r>
              <a:rPr sz="730" b="1" i="0">
                <a:solidFill>
                  <a:srgbClr val="6D6560"/>
                </a:solidFill>
                <a:latin typeface="Arial"/>
                <a:ea typeface="Arial"/>
                <a:cs typeface="Arial"/>
              </a:rPr>
              <a:t>GROUP 62</a:t>
            </a:r>
          </a:p>
        </p:txBody>
      </p:sp>
      <p:sp>
        <p:nvSpPr>
          <p:cNvPr id="37" name="TextBox 36">
            <a:extLst>
              <a:ext uri="{FF2B5EF4-FFF2-40B4-BE49-F238E27FC236}">
                <a16:creationId xmlns:a16="http://schemas.microsoft.com/office/drawing/2014/main" xmlns="" id="{140F7C82-9F03-4724-BA3E-624F238529FC}"/>
              </a:ext>
            </a:extLst>
          </p:cNvPr>
          <p:cNvSpPr>
            <a:spLocks noGrp="1"/>
          </p:cNvSpPr>
          <p:nvPr/>
        </p:nvSpPr>
        <p:spPr>
          <a:xfrm>
            <a:off x="11384280" y="6528816"/>
            <a:ext cx="320040" cy="146304"/>
          </a:xfrm>
          <a:prstGeom prst="rect">
            <a:avLst/>
          </a:prstGeom>
          <a:noFill/>
        </p:spPr>
        <p:txBody>
          <a:bodyPr wrap="square" anchor="t">
            <a:spAutoFit/>
          </a:bodyPr>
          <a:lstStyle/>
          <a:p>
            <a:pPr algn="r">
              <a:buNone/>
            </a:pPr>
            <a:r>
              <a:rPr sz="730" b="1" i="0">
                <a:solidFill>
                  <a:srgbClr val="6D6560"/>
                </a:solidFill>
                <a:latin typeface="Arial"/>
                <a:ea typeface="Arial"/>
                <a:cs typeface="Arial"/>
              </a:rPr>
              <a:t>02</a:t>
            </a:r>
          </a:p>
        </p:txBody>
      </p:sp>
    </p:spTree>
    <p:extLst>
      <p:ext uri="{BB962C8B-B14F-4D97-AF65-F5344CB8AC3E}">
        <p14:creationId xmlns:p14="http://schemas.microsoft.com/office/powerpoint/2010/main" xmlns="" val="15623423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F9F4"/>
        </a:solidFill>
        <a:effectLst/>
      </p:bgPr>
    </p:bg>
    <p:spTree>
      <p:nvGrpSpPr>
        <p:cNvPr id="1" name=""/>
        <p:cNvGrpSpPr/>
        <p:nvPr/>
      </p:nvGrpSpPr>
      <p:grpSpPr>
        <a:xfrm>
          <a:off x="0" y="0"/>
          <a:ext cx="0" cy="0"/>
          <a:chOff x="0" y="0"/>
          <a:chExt cx="0" cy="0"/>
        </a:xfrm>
      </p:grpSpPr>
      <p:sp>
        <p:nvSpPr>
          <p:cNvPr id="20" name="section-label">
            <a:extLst>
              <a:ext uri="{FF2B5EF4-FFF2-40B4-BE49-F238E27FC236}">
                <a16:creationId xmlns:a16="http://schemas.microsoft.com/office/drawing/2014/main" xmlns="" id="{021B7A67-3CAD-4F22-9720-78A290919C3A}"/>
              </a:ext>
            </a:extLst>
          </p:cNvPr>
          <p:cNvSpPr>
            <a:spLocks noGrp="1"/>
          </p:cNvSpPr>
          <p:nvPr/>
        </p:nvSpPr>
        <p:spPr>
          <a:xfrm>
            <a:off x="552450" y="419100"/>
            <a:ext cx="10668000" cy="228600"/>
          </a:xfrm>
          <a:prstGeom prst="rect">
            <a:avLst/>
          </a:prstGeom>
          <a:noFill/>
          <a:ln w="0">
            <a:noFill/>
          </a:ln>
        </p:spPr>
        <p:txBody>
          <a:bodyPr wrap="square" lIns="0" tIns="0" rIns="0" bIns="0" anchor="t">
            <a:noAutofit/>
          </a:bodyPr>
          <a:lstStyle/>
          <a:p>
            <a:pPr algn="l">
              <a:defRPr sz="975" b="1">
                <a:solidFill>
                  <a:srgbClr val="7A2F52"/>
                </a:solidFill>
                <a:latin typeface="Arial"/>
                <a:ea typeface="Arial"/>
                <a:cs typeface="Arial"/>
              </a:defRPr>
            </a:pPr>
            <a:r>
              <a:rPr sz="975" b="1">
                <a:solidFill>
                  <a:srgbClr val="7A2F52"/>
                </a:solidFill>
                <a:latin typeface="Arial"/>
                <a:ea typeface="Arial"/>
                <a:cs typeface="Arial"/>
              </a:rPr>
              <a:t>MEET MAYA IN ACTION</a:t>
            </a:r>
          </a:p>
        </p:txBody>
      </p:sp>
      <p:sp>
        <p:nvSpPr>
          <p:cNvPr id="2" name="slide-title">
            <a:extLst>
              <a:ext uri="{FF2B5EF4-FFF2-40B4-BE49-F238E27FC236}">
                <a16:creationId xmlns:a16="http://schemas.microsoft.com/office/drawing/2014/main" xmlns="" id="{C541DAFA-F8A7-4A83-A67F-0F044E0D5949}"/>
              </a:ext>
            </a:extLst>
          </p:cNvPr>
          <p:cNvSpPr>
            <a:spLocks noGrp="1"/>
          </p:cNvSpPr>
          <p:nvPr/>
        </p:nvSpPr>
        <p:spPr>
          <a:xfrm>
            <a:off x="552450" y="819150"/>
            <a:ext cx="11087100" cy="895350"/>
          </a:xfrm>
          <a:prstGeom prst="rect">
            <a:avLst/>
          </a:prstGeom>
          <a:noFill/>
          <a:ln w="0">
            <a:noFill/>
          </a:ln>
        </p:spPr>
        <p:txBody>
          <a:bodyPr wrap="square" lIns="0" tIns="0" rIns="0" bIns="0" anchor="t">
            <a:noAutofit/>
          </a:bodyPr>
          <a:lstStyle/>
          <a:p>
            <a:pPr algn="l">
              <a:defRPr sz="3150" b="1">
                <a:solidFill>
                  <a:srgbClr val="184B3E"/>
                </a:solidFill>
                <a:latin typeface="Georgia"/>
                <a:ea typeface="Georgia"/>
                <a:cs typeface="Georgia"/>
              </a:defRPr>
            </a:pPr>
            <a:r>
              <a:rPr sz="3150" b="1">
                <a:solidFill>
                  <a:srgbClr val="184B3E"/>
                </a:solidFill>
                <a:latin typeface="Georgia"/>
                <a:ea typeface="Georgia"/>
                <a:cs typeface="Georgia"/>
              </a:rPr>
              <a:t>A calmer week, one conversation away.</a:t>
            </a:r>
          </a:p>
        </p:txBody>
      </p:sp>
      <p:sp>
        <p:nvSpPr>
          <p:cNvPr id="3" name="group-footer">
            <a:extLst>
              <a:ext uri="{FF2B5EF4-FFF2-40B4-BE49-F238E27FC236}">
                <a16:creationId xmlns:a16="http://schemas.microsoft.com/office/drawing/2014/main" xmlns="" id="{5318F23E-9327-4CEA-B553-2889DCC6EB68}"/>
              </a:ext>
            </a:extLst>
          </p:cNvPr>
          <p:cNvSpPr>
            <a:spLocks noGrp="1"/>
          </p:cNvSpPr>
          <p:nvPr/>
        </p:nvSpPr>
        <p:spPr>
          <a:xfrm>
            <a:off x="552450" y="6553200"/>
            <a:ext cx="1714500" cy="152400"/>
          </a:xfrm>
          <a:prstGeom prst="rect">
            <a:avLst/>
          </a:prstGeom>
          <a:noFill/>
          <a:ln w="0">
            <a:noFill/>
          </a:ln>
        </p:spPr>
        <p:txBody>
          <a:bodyPr wrap="square" lIns="0" tIns="0" rIns="0" bIns="0" anchor="t">
            <a:noAutofit/>
          </a:bodyPr>
          <a:lstStyle/>
          <a:p>
            <a:pPr algn="l">
              <a:defRPr sz="750" b="1">
                <a:solidFill>
                  <a:srgbClr val="6D6560"/>
                </a:solidFill>
                <a:latin typeface="Arial"/>
                <a:ea typeface="Arial"/>
                <a:cs typeface="Arial"/>
              </a:defRPr>
            </a:pPr>
            <a:r>
              <a:rPr sz="750" b="1">
                <a:solidFill>
                  <a:srgbClr val="6D6560"/>
                </a:solidFill>
                <a:latin typeface="Arial"/>
                <a:ea typeface="Arial"/>
                <a:cs typeface="Arial"/>
              </a:rPr>
              <a:t>GROUP 62</a:t>
            </a:r>
          </a:p>
        </p:txBody>
      </p:sp>
      <p:sp>
        <p:nvSpPr>
          <p:cNvPr id="4" name="page-number">
            <a:extLst>
              <a:ext uri="{FF2B5EF4-FFF2-40B4-BE49-F238E27FC236}">
                <a16:creationId xmlns:a16="http://schemas.microsoft.com/office/drawing/2014/main" xmlns="" id="{DA010A8F-EC4E-4F71-B4C6-4ABE79A2030C}"/>
              </a:ext>
            </a:extLst>
          </p:cNvPr>
          <p:cNvSpPr>
            <a:spLocks noGrp="1"/>
          </p:cNvSpPr>
          <p:nvPr/>
        </p:nvSpPr>
        <p:spPr>
          <a:xfrm>
            <a:off x="11144250" y="6553200"/>
            <a:ext cx="495300" cy="152400"/>
          </a:xfrm>
          <a:prstGeom prst="rect">
            <a:avLst/>
          </a:prstGeom>
          <a:noFill/>
          <a:ln w="0">
            <a:noFill/>
          </a:ln>
        </p:spPr>
        <p:txBody>
          <a:bodyPr wrap="square" lIns="0" tIns="0" rIns="0" bIns="0" anchor="t">
            <a:noAutofit/>
          </a:bodyPr>
          <a:lstStyle/>
          <a:p>
            <a:pPr algn="r">
              <a:defRPr sz="750" b="1">
                <a:solidFill>
                  <a:srgbClr val="6D6560"/>
                </a:solidFill>
                <a:latin typeface="Arial"/>
                <a:ea typeface="Arial"/>
                <a:cs typeface="Arial"/>
              </a:defRPr>
            </a:pPr>
            <a:r>
              <a:rPr sz="750" b="1">
                <a:solidFill>
                  <a:srgbClr val="6D6560"/>
                </a:solidFill>
                <a:latin typeface="Arial"/>
                <a:ea typeface="Arial"/>
                <a:cs typeface="Arial"/>
              </a:rPr>
              <a:t>03</a:t>
            </a:r>
          </a:p>
        </p:txBody>
      </p:sp>
      <p:sp>
        <p:nvSpPr>
          <p:cNvPr id="5" name="demo-intro">
            <a:extLst>
              <a:ext uri="{FF2B5EF4-FFF2-40B4-BE49-F238E27FC236}">
                <a16:creationId xmlns:a16="http://schemas.microsoft.com/office/drawing/2014/main" xmlns="" id="{928EF8AC-C908-4800-9FC1-9D69BE9C8946}"/>
              </a:ext>
            </a:extLst>
          </p:cNvPr>
          <p:cNvSpPr>
            <a:spLocks noGrp="1"/>
          </p:cNvSpPr>
          <p:nvPr/>
        </p:nvSpPr>
        <p:spPr>
          <a:xfrm>
            <a:off x="552450" y="1866900"/>
            <a:ext cx="3857625" cy="704850"/>
          </a:xfrm>
          <a:prstGeom prst="rect">
            <a:avLst/>
          </a:prstGeom>
          <a:noFill/>
          <a:ln w="0">
            <a:noFill/>
          </a:ln>
        </p:spPr>
        <p:txBody>
          <a:bodyPr wrap="square" lIns="0" tIns="0" rIns="0" bIns="0" anchor="t">
            <a:noAutofit/>
          </a:bodyPr>
          <a:lstStyle/>
          <a:p>
            <a:pPr algn="l">
              <a:defRPr sz="1725" b="0">
                <a:solidFill>
                  <a:srgbClr val="25211F"/>
                </a:solidFill>
                <a:latin typeface="Arial"/>
                <a:ea typeface="Arial"/>
                <a:cs typeface="Arial"/>
              </a:defRPr>
            </a:pPr>
            <a:r>
              <a:rPr sz="1725" b="0">
                <a:solidFill>
                  <a:srgbClr val="25211F"/>
                </a:solidFill>
                <a:latin typeface="Arial"/>
                <a:ea typeface="Arial"/>
                <a:cs typeface="Arial"/>
              </a:rPr>
              <a:t>Follow one mother’s journey from</a:t>
            </a:r>
          </a:p>
          <a:p>
            <a:pPr algn="l">
              <a:defRPr sz="1725" b="0">
                <a:solidFill>
                  <a:srgbClr val="25211F"/>
                </a:solidFill>
                <a:latin typeface="Arial"/>
                <a:ea typeface="Arial"/>
                <a:cs typeface="Arial"/>
              </a:defRPr>
            </a:pPr>
            <a:r>
              <a:rPr sz="1725" b="0">
                <a:solidFill>
                  <a:srgbClr val="25211F"/>
                </a:solidFill>
                <a:latin typeface="Arial"/>
                <a:ea typeface="Arial"/>
                <a:cs typeface="Arial"/>
              </a:rPr>
              <a:t>her first details to a more personal week.</a:t>
            </a:r>
          </a:p>
        </p:txBody>
      </p:sp>
      <p:sp>
        <p:nvSpPr>
          <p:cNvPr id="6" name="demo-step-01">
            <a:extLst>
              <a:ext uri="{FF2B5EF4-FFF2-40B4-BE49-F238E27FC236}">
                <a16:creationId xmlns:a16="http://schemas.microsoft.com/office/drawing/2014/main" xmlns="" id="{4527C8F5-D7CF-490A-8826-24FC30AC5B60}"/>
              </a:ext>
            </a:extLst>
          </p:cNvPr>
          <p:cNvSpPr>
            <a:spLocks noGrp="1"/>
          </p:cNvSpPr>
          <p:nvPr/>
        </p:nvSpPr>
        <p:spPr>
          <a:xfrm>
            <a:off x="552450" y="2857500"/>
            <a:ext cx="333375" cy="228600"/>
          </a:xfrm>
          <a:prstGeom prst="rect">
            <a:avLst/>
          </a:prstGeom>
          <a:noFill/>
          <a:ln w="0">
            <a:noFill/>
          </a:ln>
        </p:spPr>
        <p:txBody>
          <a:bodyPr wrap="square" lIns="0" tIns="0" rIns="0" bIns="0" anchor="t">
            <a:noAutofit/>
          </a:bodyPr>
          <a:lstStyle/>
          <a:p>
            <a:pPr algn="l">
              <a:defRPr sz="975" b="1">
                <a:solidFill>
                  <a:srgbClr val="7A2F52"/>
                </a:solidFill>
                <a:latin typeface="Arial"/>
                <a:ea typeface="Arial"/>
                <a:cs typeface="Arial"/>
              </a:defRPr>
            </a:pPr>
            <a:r>
              <a:rPr sz="975" b="1">
                <a:solidFill>
                  <a:srgbClr val="7A2F52"/>
                </a:solidFill>
                <a:latin typeface="Arial"/>
                <a:ea typeface="Arial"/>
                <a:cs typeface="Arial"/>
              </a:rPr>
              <a:t>01</a:t>
            </a:r>
          </a:p>
        </p:txBody>
      </p:sp>
      <p:sp>
        <p:nvSpPr>
          <p:cNvPr id="7" name="demo-step-title-01">
            <a:extLst>
              <a:ext uri="{FF2B5EF4-FFF2-40B4-BE49-F238E27FC236}">
                <a16:creationId xmlns:a16="http://schemas.microsoft.com/office/drawing/2014/main" xmlns="" id="{93C68910-321C-4F8F-A7CC-20118ECDD8CD}"/>
              </a:ext>
            </a:extLst>
          </p:cNvPr>
          <p:cNvSpPr>
            <a:spLocks noGrp="1"/>
          </p:cNvSpPr>
          <p:nvPr/>
        </p:nvSpPr>
        <p:spPr>
          <a:xfrm>
            <a:off x="971550" y="2819400"/>
            <a:ext cx="3476625" cy="285750"/>
          </a:xfrm>
          <a:prstGeom prst="rect">
            <a:avLst/>
          </a:prstGeom>
          <a:noFill/>
          <a:ln w="0">
            <a:noFill/>
          </a:ln>
        </p:spPr>
        <p:txBody>
          <a:bodyPr wrap="square" lIns="0" tIns="0" rIns="0" bIns="0" anchor="t">
            <a:noAutofit/>
          </a:bodyPr>
          <a:lstStyle/>
          <a:p>
            <a:pPr algn="l">
              <a:defRPr sz="1575" b="1">
                <a:solidFill>
                  <a:srgbClr val="184B3E"/>
                </a:solidFill>
                <a:latin typeface="Arial"/>
                <a:ea typeface="Arial"/>
                <a:cs typeface="Arial"/>
              </a:defRPr>
            </a:pPr>
            <a:r>
              <a:rPr sz="1575" b="1">
                <a:solidFill>
                  <a:srgbClr val="184B3E"/>
                </a:solidFill>
                <a:latin typeface="Arial"/>
                <a:ea typeface="Arial"/>
                <a:cs typeface="Arial"/>
              </a:rPr>
              <a:t>Begin with her context</a:t>
            </a:r>
          </a:p>
        </p:txBody>
      </p:sp>
      <p:sp>
        <p:nvSpPr>
          <p:cNvPr id="8" name="demo-step-body-01">
            <a:extLst>
              <a:ext uri="{FF2B5EF4-FFF2-40B4-BE49-F238E27FC236}">
                <a16:creationId xmlns:a16="http://schemas.microsoft.com/office/drawing/2014/main" xmlns="" id="{BF228845-999E-496A-AA52-CE5EE97D47A9}"/>
              </a:ext>
            </a:extLst>
          </p:cNvPr>
          <p:cNvSpPr>
            <a:spLocks noGrp="1"/>
          </p:cNvSpPr>
          <p:nvPr/>
        </p:nvSpPr>
        <p:spPr>
          <a:xfrm>
            <a:off x="971550" y="3133725"/>
            <a:ext cx="3476625" cy="304800"/>
          </a:xfrm>
          <a:prstGeom prst="rect">
            <a:avLst/>
          </a:prstGeom>
          <a:noFill/>
          <a:ln w="0">
            <a:noFill/>
          </a:ln>
        </p:spPr>
        <p:txBody>
          <a:bodyPr wrap="square" lIns="0" tIns="0" rIns="0" bIns="0" anchor="t">
            <a:noAutofit/>
          </a:bodyPr>
          <a:lstStyle/>
          <a:p>
            <a:pPr algn="l">
              <a:defRPr sz="1200" b="0">
                <a:solidFill>
                  <a:srgbClr val="6D6560"/>
                </a:solidFill>
                <a:latin typeface="Arial"/>
                <a:ea typeface="Arial"/>
                <a:cs typeface="Arial"/>
              </a:defRPr>
            </a:pPr>
            <a:r>
              <a:rPr sz="1200" b="0">
                <a:solidFill>
                  <a:srgbClr val="6D6560"/>
                </a:solidFill>
                <a:latin typeface="Arial"/>
                <a:ea typeface="Arial"/>
                <a:cs typeface="Arial"/>
              </a:rPr>
              <a:t>Stage, preferences and concerns.</a:t>
            </a:r>
          </a:p>
        </p:txBody>
      </p:sp>
      <p:sp>
        <p:nvSpPr>
          <p:cNvPr id="9" name="demo-step-02">
            <a:extLst>
              <a:ext uri="{FF2B5EF4-FFF2-40B4-BE49-F238E27FC236}">
                <a16:creationId xmlns:a16="http://schemas.microsoft.com/office/drawing/2014/main" xmlns="" id="{B577CE7C-9465-4BE3-80D0-9E54930C62A3}"/>
              </a:ext>
            </a:extLst>
          </p:cNvPr>
          <p:cNvSpPr>
            <a:spLocks noGrp="1"/>
          </p:cNvSpPr>
          <p:nvPr/>
        </p:nvSpPr>
        <p:spPr>
          <a:xfrm>
            <a:off x="552450" y="3705225"/>
            <a:ext cx="333375" cy="228600"/>
          </a:xfrm>
          <a:prstGeom prst="rect">
            <a:avLst/>
          </a:prstGeom>
          <a:noFill/>
          <a:ln w="0">
            <a:noFill/>
          </a:ln>
        </p:spPr>
        <p:txBody>
          <a:bodyPr wrap="square" lIns="0" tIns="0" rIns="0" bIns="0" anchor="t">
            <a:noAutofit/>
          </a:bodyPr>
          <a:lstStyle/>
          <a:p>
            <a:pPr algn="l">
              <a:defRPr sz="975" b="1">
                <a:solidFill>
                  <a:srgbClr val="7A2F52"/>
                </a:solidFill>
                <a:latin typeface="Arial"/>
                <a:ea typeface="Arial"/>
                <a:cs typeface="Arial"/>
              </a:defRPr>
            </a:pPr>
            <a:r>
              <a:rPr sz="975" b="1">
                <a:solidFill>
                  <a:srgbClr val="7A2F52"/>
                </a:solidFill>
                <a:latin typeface="Arial"/>
                <a:ea typeface="Arial"/>
                <a:cs typeface="Arial"/>
              </a:rPr>
              <a:t>02</a:t>
            </a:r>
          </a:p>
        </p:txBody>
      </p:sp>
      <p:sp>
        <p:nvSpPr>
          <p:cNvPr id="10" name="demo-step-title-02">
            <a:extLst>
              <a:ext uri="{FF2B5EF4-FFF2-40B4-BE49-F238E27FC236}">
                <a16:creationId xmlns:a16="http://schemas.microsoft.com/office/drawing/2014/main" xmlns="" id="{724D38EE-A025-4E32-BCAB-E645F23A831A}"/>
              </a:ext>
            </a:extLst>
          </p:cNvPr>
          <p:cNvSpPr>
            <a:spLocks noGrp="1"/>
          </p:cNvSpPr>
          <p:nvPr/>
        </p:nvSpPr>
        <p:spPr>
          <a:xfrm>
            <a:off x="971550" y="3667125"/>
            <a:ext cx="3476625" cy="285750"/>
          </a:xfrm>
          <a:prstGeom prst="rect">
            <a:avLst/>
          </a:prstGeom>
          <a:noFill/>
          <a:ln w="0">
            <a:noFill/>
          </a:ln>
        </p:spPr>
        <p:txBody>
          <a:bodyPr wrap="square" lIns="0" tIns="0" rIns="0" bIns="0" anchor="t">
            <a:noAutofit/>
          </a:bodyPr>
          <a:lstStyle/>
          <a:p>
            <a:pPr algn="l">
              <a:defRPr sz="1575" b="1">
                <a:solidFill>
                  <a:srgbClr val="184B3E"/>
                </a:solidFill>
                <a:latin typeface="Arial"/>
                <a:ea typeface="Arial"/>
                <a:cs typeface="Arial"/>
              </a:defRPr>
            </a:pPr>
            <a:r>
              <a:rPr sz="1575" b="1">
                <a:solidFill>
                  <a:srgbClr val="184B3E"/>
                </a:solidFill>
                <a:latin typeface="Arial"/>
                <a:ea typeface="Arial"/>
                <a:cs typeface="Arial"/>
              </a:rPr>
              <a:t>Make the week tangible</a:t>
            </a:r>
          </a:p>
        </p:txBody>
      </p:sp>
      <p:sp>
        <p:nvSpPr>
          <p:cNvPr id="11" name="demo-step-body-02">
            <a:extLst>
              <a:ext uri="{FF2B5EF4-FFF2-40B4-BE49-F238E27FC236}">
                <a16:creationId xmlns:a16="http://schemas.microsoft.com/office/drawing/2014/main" xmlns="" id="{5E3380EC-3C19-4F17-BA9D-155E25A8E58A}"/>
              </a:ext>
            </a:extLst>
          </p:cNvPr>
          <p:cNvSpPr>
            <a:spLocks noGrp="1"/>
          </p:cNvSpPr>
          <p:nvPr/>
        </p:nvSpPr>
        <p:spPr>
          <a:xfrm>
            <a:off x="971550" y="3981450"/>
            <a:ext cx="3476625" cy="304800"/>
          </a:xfrm>
          <a:prstGeom prst="rect">
            <a:avLst/>
          </a:prstGeom>
          <a:noFill/>
          <a:ln w="0">
            <a:noFill/>
          </a:ln>
        </p:spPr>
        <p:txBody>
          <a:bodyPr wrap="square" lIns="0" tIns="0" rIns="0" bIns="0" anchor="t">
            <a:noAutofit/>
          </a:bodyPr>
          <a:lstStyle/>
          <a:p>
            <a:pPr algn="l">
              <a:defRPr sz="1200" b="0">
                <a:solidFill>
                  <a:srgbClr val="6D6560"/>
                </a:solidFill>
                <a:latin typeface="Arial"/>
                <a:ea typeface="Arial"/>
                <a:cs typeface="Arial"/>
              </a:defRPr>
            </a:pPr>
            <a:r>
              <a:rPr sz="1200" b="0">
                <a:solidFill>
                  <a:srgbClr val="6D6560"/>
                </a:solidFill>
                <a:latin typeface="Arial"/>
                <a:ea typeface="Arial"/>
                <a:cs typeface="Arial"/>
              </a:rPr>
              <a:t>A dashboard and a weekly plan.</a:t>
            </a:r>
          </a:p>
        </p:txBody>
      </p:sp>
      <p:sp>
        <p:nvSpPr>
          <p:cNvPr id="12" name="demo-step-03">
            <a:extLst>
              <a:ext uri="{FF2B5EF4-FFF2-40B4-BE49-F238E27FC236}">
                <a16:creationId xmlns:a16="http://schemas.microsoft.com/office/drawing/2014/main" xmlns="" id="{39F6800D-AE3A-4E5B-A1D6-FC50662CC4D6}"/>
              </a:ext>
            </a:extLst>
          </p:cNvPr>
          <p:cNvSpPr>
            <a:spLocks noGrp="1"/>
          </p:cNvSpPr>
          <p:nvPr/>
        </p:nvSpPr>
        <p:spPr>
          <a:xfrm>
            <a:off x="552450" y="4552950"/>
            <a:ext cx="333375" cy="228600"/>
          </a:xfrm>
          <a:prstGeom prst="rect">
            <a:avLst/>
          </a:prstGeom>
          <a:noFill/>
          <a:ln w="0">
            <a:noFill/>
          </a:ln>
        </p:spPr>
        <p:txBody>
          <a:bodyPr wrap="square" lIns="0" tIns="0" rIns="0" bIns="0" anchor="t">
            <a:noAutofit/>
          </a:bodyPr>
          <a:lstStyle/>
          <a:p>
            <a:pPr algn="l">
              <a:defRPr sz="975" b="1">
                <a:solidFill>
                  <a:srgbClr val="7A2F52"/>
                </a:solidFill>
                <a:latin typeface="Arial"/>
                <a:ea typeface="Arial"/>
                <a:cs typeface="Arial"/>
              </a:defRPr>
            </a:pPr>
            <a:r>
              <a:rPr sz="975" b="1">
                <a:solidFill>
                  <a:srgbClr val="7A2F52"/>
                </a:solidFill>
                <a:latin typeface="Arial"/>
                <a:ea typeface="Arial"/>
                <a:cs typeface="Arial"/>
              </a:rPr>
              <a:t>03</a:t>
            </a:r>
          </a:p>
        </p:txBody>
      </p:sp>
      <p:sp>
        <p:nvSpPr>
          <p:cNvPr id="13" name="demo-step-title-03">
            <a:extLst>
              <a:ext uri="{FF2B5EF4-FFF2-40B4-BE49-F238E27FC236}">
                <a16:creationId xmlns:a16="http://schemas.microsoft.com/office/drawing/2014/main" xmlns="" id="{39901958-E1F6-48A1-8523-9E3247E3CBC6}"/>
              </a:ext>
            </a:extLst>
          </p:cNvPr>
          <p:cNvSpPr>
            <a:spLocks noGrp="1"/>
          </p:cNvSpPr>
          <p:nvPr/>
        </p:nvSpPr>
        <p:spPr>
          <a:xfrm>
            <a:off x="971550" y="4514850"/>
            <a:ext cx="3476625" cy="285750"/>
          </a:xfrm>
          <a:prstGeom prst="rect">
            <a:avLst/>
          </a:prstGeom>
          <a:noFill/>
          <a:ln w="0">
            <a:noFill/>
          </a:ln>
        </p:spPr>
        <p:txBody>
          <a:bodyPr wrap="square" lIns="0" tIns="0" rIns="0" bIns="0" anchor="t">
            <a:noAutofit/>
          </a:bodyPr>
          <a:lstStyle/>
          <a:p>
            <a:pPr algn="l">
              <a:defRPr sz="1575" b="1">
                <a:solidFill>
                  <a:srgbClr val="184B3E"/>
                </a:solidFill>
                <a:latin typeface="Arial"/>
                <a:ea typeface="Arial"/>
                <a:cs typeface="Arial"/>
              </a:defRPr>
            </a:pPr>
            <a:r>
              <a:rPr sz="1575" b="1">
                <a:solidFill>
                  <a:srgbClr val="184B3E"/>
                </a:solidFill>
                <a:latin typeface="Arial"/>
                <a:ea typeface="Arial"/>
                <a:cs typeface="Arial"/>
              </a:rPr>
              <a:t>Keep the conversation going</a:t>
            </a:r>
          </a:p>
        </p:txBody>
      </p:sp>
      <p:sp>
        <p:nvSpPr>
          <p:cNvPr id="14" name="demo-step-body-03">
            <a:extLst>
              <a:ext uri="{FF2B5EF4-FFF2-40B4-BE49-F238E27FC236}">
                <a16:creationId xmlns:a16="http://schemas.microsoft.com/office/drawing/2014/main" xmlns="" id="{3B5A9662-FA31-4097-A121-AD4C1667AED3}"/>
              </a:ext>
            </a:extLst>
          </p:cNvPr>
          <p:cNvSpPr>
            <a:spLocks noGrp="1"/>
          </p:cNvSpPr>
          <p:nvPr/>
        </p:nvSpPr>
        <p:spPr>
          <a:xfrm>
            <a:off x="971550" y="4829175"/>
            <a:ext cx="3476625" cy="304800"/>
          </a:xfrm>
          <a:prstGeom prst="rect">
            <a:avLst/>
          </a:prstGeom>
          <a:noFill/>
          <a:ln w="0">
            <a:noFill/>
          </a:ln>
        </p:spPr>
        <p:txBody>
          <a:bodyPr wrap="square" lIns="0" tIns="0" rIns="0" bIns="0" anchor="t">
            <a:noAutofit/>
          </a:bodyPr>
          <a:lstStyle/>
          <a:p>
            <a:pPr algn="l">
              <a:defRPr sz="1200" b="0">
                <a:solidFill>
                  <a:srgbClr val="6D6560"/>
                </a:solidFill>
                <a:latin typeface="Arial"/>
                <a:ea typeface="Arial"/>
                <a:cs typeface="Arial"/>
              </a:defRPr>
            </a:pPr>
            <a:r>
              <a:rPr sz="1200" b="0">
                <a:solidFill>
                  <a:srgbClr val="6D6560"/>
                </a:solidFill>
                <a:latin typeface="Arial"/>
                <a:ea typeface="Arial"/>
                <a:cs typeface="Arial"/>
              </a:rPr>
              <a:t>Ask Maya, follow up and find clarity.</a:t>
            </a:r>
          </a:p>
        </p:txBody>
      </p:sp>
      <p:sp>
        <p:nvSpPr>
          <p:cNvPr id="15" name="dashboard-preview-frame">
            <a:extLst>
              <a:ext uri="{FF2B5EF4-FFF2-40B4-BE49-F238E27FC236}">
                <a16:creationId xmlns:a16="http://schemas.microsoft.com/office/drawing/2014/main" xmlns="" id="{7A86689C-9ABE-4D76-88BE-AA8426604504}"/>
              </a:ext>
            </a:extLst>
          </p:cNvPr>
          <p:cNvSpPr>
            <a:spLocks noGrp="1"/>
          </p:cNvSpPr>
          <p:nvPr/>
        </p:nvSpPr>
        <p:spPr>
          <a:xfrm>
            <a:off x="4676775" y="1876425"/>
            <a:ext cx="6962775" cy="4076700"/>
          </a:xfrm>
          <a:prstGeom prst="rect">
            <a:avLst/>
          </a:prstGeom>
          <a:solidFill>
            <a:srgbClr val="FFFFFF"/>
          </a:solidFill>
          <a:ln w="9525">
            <a:solidFill>
              <a:srgbClr val="DDD5CB"/>
            </a:solidFill>
          </a:ln>
        </p:spPr>
      </p:sp>
      <p:pic>
        <p:nvPicPr>
          <p:cNvPr id="35" name="Picture 34"/>
          <p:cNvPicPr>
            <a:picLocks noChangeAspect="1"/>
          </p:cNvPicPr>
          <p:nvPr/>
        </p:nvPicPr>
        <p:blipFill>
          <a:blip r:embed="rId3"/>
          <a:stretch/>
        </p:blipFill>
        <p:spPr>
          <a:xfrm>
            <a:off x="4762500" y="1962150"/>
            <a:ext cx="6791325" cy="3820120"/>
          </a:xfrm>
          <a:prstGeom prst="rect">
            <a:avLst/>
          </a:prstGeom>
        </p:spPr>
      </p:pic>
      <p:sp>
        <p:nvSpPr>
          <p:cNvPr id="17" name="preview-caption">
            <a:extLst>
              <a:ext uri="{FF2B5EF4-FFF2-40B4-BE49-F238E27FC236}">
                <a16:creationId xmlns:a16="http://schemas.microsoft.com/office/drawing/2014/main" xmlns="" id="{1A84F9F0-D200-4E40-A9C0-080BAC0C6FFB}"/>
              </a:ext>
            </a:extLst>
          </p:cNvPr>
          <p:cNvSpPr>
            <a:spLocks noGrp="1"/>
          </p:cNvSpPr>
          <p:nvPr/>
        </p:nvSpPr>
        <p:spPr>
          <a:xfrm>
            <a:off x="4800600" y="6019800"/>
            <a:ext cx="6724650" cy="190500"/>
          </a:xfrm>
          <a:prstGeom prst="rect">
            <a:avLst/>
          </a:prstGeom>
          <a:noFill/>
          <a:ln w="0">
            <a:noFill/>
          </a:ln>
        </p:spPr>
        <p:txBody>
          <a:bodyPr wrap="square" lIns="0" tIns="0" rIns="0" bIns="0" anchor="t">
            <a:noAutofit/>
          </a:bodyPr>
          <a:lstStyle/>
          <a:p>
            <a:pPr algn="l">
              <a:defRPr sz="825" b="1">
                <a:solidFill>
                  <a:srgbClr val="6D6560"/>
                </a:solidFill>
                <a:latin typeface="Arial"/>
                <a:ea typeface="Arial"/>
                <a:cs typeface="Arial"/>
              </a:defRPr>
            </a:pPr>
            <a:r>
              <a:rPr sz="825" b="1">
                <a:solidFill>
                  <a:srgbClr val="6D6560"/>
                </a:solidFill>
                <a:latin typeface="Arial"/>
                <a:ea typeface="Arial"/>
                <a:cs typeface="Arial"/>
              </a:rPr>
              <a:t>THE MAYA DASHBOARD</a:t>
            </a:r>
          </a:p>
        </p:txBody>
      </p:sp>
      <p:sp>
        <p:nvSpPr>
          <p:cNvPr id="18" name="watch-demo">
            <a:extLst>
              <a:ext uri="{FF2B5EF4-FFF2-40B4-BE49-F238E27FC236}">
                <a16:creationId xmlns:a16="http://schemas.microsoft.com/office/drawing/2014/main" xmlns="" id="{1B663605-F58E-4864-B48E-F4EBE9403E28}"/>
              </a:ext>
            </a:extLst>
          </p:cNvPr>
          <p:cNvSpPr>
            <a:spLocks noGrp="1"/>
          </p:cNvSpPr>
          <p:nvPr/>
        </p:nvSpPr>
        <p:spPr>
          <a:xfrm>
            <a:off x="552450" y="5667375"/>
            <a:ext cx="3933825" cy="409575"/>
          </a:xfrm>
          <a:prstGeom prst="rect">
            <a:avLst/>
          </a:prstGeom>
          <a:noFill/>
          <a:ln w="0">
            <a:noFill/>
          </a:ln>
        </p:spPr>
        <p:txBody>
          <a:bodyPr wrap="square" lIns="0" tIns="0" rIns="0" bIns="0" anchor="t">
            <a:noAutofit/>
          </a:bodyPr>
          <a:lstStyle/>
          <a:p>
            <a:pPr algn="l">
              <a:defRPr sz="1800" b="1">
                <a:solidFill>
                  <a:srgbClr val="7A2F52"/>
                </a:solidFill>
                <a:latin typeface="Arial"/>
                <a:ea typeface="Arial"/>
                <a:cs typeface="Arial"/>
              </a:defRPr>
            </a:pPr>
            <a:r>
              <a:rPr sz="1800" b="1" u="sng">
                <a:solidFill>
                  <a:srgbClr val="7A2F52"/>
                </a:solidFill>
                <a:latin typeface="Arial"/>
                <a:ea typeface="Arial"/>
                <a:cs typeface="Arial"/>
                <a:hlinkClick r:id="rId4"/>
              </a:rPr>
              <a:t>Watch the 2-minute demo</a:t>
            </a:r>
          </a:p>
        </p:txBody>
      </p:sp>
      <p:sp>
        <p:nvSpPr>
          <p:cNvPr id="19" name="watch-hint">
            <a:extLst>
              <a:ext uri="{FF2B5EF4-FFF2-40B4-BE49-F238E27FC236}">
                <a16:creationId xmlns:a16="http://schemas.microsoft.com/office/drawing/2014/main" xmlns="" id="{C36E23C4-E7BA-4684-87FD-C759767ABE92}"/>
              </a:ext>
            </a:extLst>
          </p:cNvPr>
          <p:cNvSpPr>
            <a:spLocks noGrp="1"/>
          </p:cNvSpPr>
          <p:nvPr/>
        </p:nvSpPr>
        <p:spPr>
          <a:xfrm>
            <a:off x="552450" y="6096000"/>
            <a:ext cx="3933825" cy="228600"/>
          </a:xfrm>
          <a:prstGeom prst="rect">
            <a:avLst/>
          </a:prstGeom>
          <a:noFill/>
          <a:ln w="0">
            <a:noFill/>
          </a:ln>
        </p:spPr>
        <p:txBody>
          <a:bodyPr wrap="square" lIns="0" tIns="0" rIns="0" bIns="0" anchor="t">
            <a:noAutofit/>
          </a:bodyPr>
          <a:lstStyle/>
          <a:p>
            <a:pPr algn="l">
              <a:defRPr sz="1050" b="0">
                <a:solidFill>
                  <a:srgbClr val="6D6560"/>
                </a:solidFill>
                <a:latin typeface="Arial"/>
                <a:ea typeface="Arial"/>
                <a:cs typeface="Arial"/>
              </a:defRPr>
            </a:pPr>
            <a:r>
              <a:rPr sz="1050" b="0">
                <a:solidFill>
                  <a:srgbClr val="6D6560"/>
                </a:solidFill>
                <a:latin typeface="Arial"/>
                <a:ea typeface="Arial"/>
                <a:cs typeface="Arial"/>
              </a:rPr>
              <a:t>Click to open the video in Google Drive.</a:t>
            </a:r>
          </a:p>
        </p:txBody>
      </p:sp>
    </p:spTree>
    <p:extLst>
      <p:ext uri="{BB962C8B-B14F-4D97-AF65-F5344CB8AC3E}">
        <p14:creationId xmlns:p14="http://schemas.microsoft.com/office/powerpoint/2010/main" xmlns="" val="19238928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773062E0-72A2-4E91-8468-979B1E636EE5}"/>
              </a:ext>
            </a:extLst>
          </p:cNvPr>
          <p:cNvSpPr>
            <a:spLocks noGrp="1"/>
          </p:cNvSpPr>
          <p:nvPr/>
        </p:nvSpPr>
        <p:spPr>
          <a:xfrm>
            <a:off x="164592" y="6565392"/>
            <a:ext cx="822960" cy="137160"/>
          </a:xfrm>
          <a:prstGeom prst="rect">
            <a:avLst/>
          </a:prstGeom>
          <a:noFill/>
        </p:spPr>
        <p:txBody>
          <a:bodyPr wrap="square" anchor="t">
            <a:spAutoFit/>
          </a:bodyPr>
          <a:lstStyle/>
          <a:p>
            <a:pPr algn="l">
              <a:buNone/>
            </a:pPr>
            <a:r>
              <a:rPr sz="680" b="1" i="0">
                <a:solidFill>
                  <a:srgbClr val="787878"/>
                </a:solidFill>
                <a:latin typeface="Arial"/>
                <a:ea typeface="Arial"/>
                <a:cs typeface="Arial"/>
              </a:rPr>
              <a:t>GROUP 62</a:t>
            </a:r>
          </a:p>
        </p:txBody>
      </p:sp>
      <p:sp>
        <p:nvSpPr>
          <p:cNvPr id="4" name="TextBox 3">
            <a:extLst>
              <a:ext uri="{FF2B5EF4-FFF2-40B4-BE49-F238E27FC236}">
                <a16:creationId xmlns:a16="http://schemas.microsoft.com/office/drawing/2014/main" xmlns="" id="{57C4AF26-3292-4F12-8693-85EDB9996C63}"/>
              </a:ext>
            </a:extLst>
          </p:cNvPr>
          <p:cNvSpPr>
            <a:spLocks noGrp="1"/>
          </p:cNvSpPr>
          <p:nvPr/>
        </p:nvSpPr>
        <p:spPr>
          <a:xfrm>
            <a:off x="11201400" y="6565392"/>
            <a:ext cx="685800" cy="195072"/>
          </a:xfrm>
          <a:prstGeom prst="rect">
            <a:avLst/>
          </a:prstGeom>
          <a:noFill/>
        </p:spPr>
        <p:txBody>
          <a:bodyPr wrap="square" anchor="t">
            <a:spAutoFit/>
          </a:bodyPr>
          <a:lstStyle/>
          <a:p>
            <a:pPr algn="r">
              <a:buNone/>
            </a:pPr>
            <a:r>
              <a:rPr sz="680" b="1" i="0">
                <a:solidFill>
                  <a:srgbClr val="787878"/>
                </a:solidFill>
                <a:latin typeface="Arial"/>
                <a:ea typeface="Arial"/>
                <a:cs typeface="Arial"/>
              </a:rPr>
              <a:t>04</a:t>
            </a:r>
          </a:p>
        </p:txBody>
      </p:sp>
      <p:pic>
        <p:nvPicPr>
          <p:cNvPr id="5" name="Picture 4" descr="ChatGPT Image Sep 17, 2026, 06_05_14 AM.png"/>
          <p:cNvPicPr>
            <a:picLocks noChangeAspect="1"/>
          </p:cNvPicPr>
          <p:nvPr/>
        </p:nvPicPr>
        <p:blipFill>
          <a:blip r:embed="rId3"/>
          <a:stretch>
            <a:fillRect/>
          </a:stretch>
        </p:blipFill>
        <p:spPr>
          <a:xfrm>
            <a:off x="1166778" y="142852"/>
            <a:ext cx="9858444" cy="6572296"/>
          </a:xfrm>
          <a:prstGeom prst="rect">
            <a:avLst/>
          </a:prstGeom>
        </p:spPr>
      </p:pic>
    </p:spTree>
    <p:extLst>
      <p:ext uri="{BB962C8B-B14F-4D97-AF65-F5344CB8AC3E}">
        <p14:creationId xmlns:p14="http://schemas.microsoft.com/office/powerpoint/2010/main" xmlns="" val="17684315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9F4"/>
        </a:solidFill>
        <a:effectLst/>
      </p:bgPr>
    </p:bg>
    <p:spTree>
      <p:nvGrpSpPr>
        <p:cNvPr id="1" name=""/>
        <p:cNvGrpSpPr/>
        <p:nvPr/>
      </p:nvGrpSpPr>
      <p:grpSpPr>
        <a:xfrm>
          <a:off x="0" y="0"/>
          <a:ext cx="0" cy="0"/>
          <a:chOff x="0" y="0"/>
          <a:chExt cx="0" cy="0"/>
        </a:xfrm>
      </p:grpSpPr>
      <p:sp>
        <p:nvSpPr>
          <p:cNvPr id="30" name="section-label">
            <a:extLst>
              <a:ext uri="{FF2B5EF4-FFF2-40B4-BE49-F238E27FC236}">
                <a16:creationId xmlns:a16="http://schemas.microsoft.com/office/drawing/2014/main" xmlns="" id="{467F393A-FD10-414F-905A-A317E96425FC}"/>
              </a:ext>
            </a:extLst>
          </p:cNvPr>
          <p:cNvSpPr>
            <a:spLocks noGrp="1"/>
          </p:cNvSpPr>
          <p:nvPr/>
        </p:nvSpPr>
        <p:spPr>
          <a:xfrm>
            <a:off x="552450" y="419100"/>
            <a:ext cx="10668000" cy="228600"/>
          </a:xfrm>
          <a:prstGeom prst="rect">
            <a:avLst/>
          </a:prstGeom>
          <a:noFill/>
          <a:ln w="0">
            <a:noFill/>
          </a:ln>
        </p:spPr>
        <p:txBody>
          <a:bodyPr wrap="square" lIns="0" tIns="0" rIns="0" bIns="0" anchor="t">
            <a:noAutofit/>
          </a:bodyPr>
          <a:lstStyle/>
          <a:p>
            <a:pPr algn="l">
              <a:defRPr sz="975" b="1">
                <a:solidFill>
                  <a:srgbClr val="7A2F52"/>
                </a:solidFill>
                <a:latin typeface="Arial"/>
                <a:ea typeface="Arial"/>
                <a:cs typeface="Arial"/>
              </a:defRPr>
            </a:pPr>
            <a:r>
              <a:rPr sz="975" b="1">
                <a:solidFill>
                  <a:srgbClr val="7A2F52"/>
                </a:solidFill>
                <a:latin typeface="Arial"/>
                <a:ea typeface="Arial"/>
                <a:cs typeface="Arial"/>
              </a:rPr>
              <a:t>OBSERVABILITY + EVALUATIONS</a:t>
            </a:r>
          </a:p>
        </p:txBody>
      </p:sp>
      <p:sp>
        <p:nvSpPr>
          <p:cNvPr id="2" name="slide-title">
            <a:extLst>
              <a:ext uri="{FF2B5EF4-FFF2-40B4-BE49-F238E27FC236}">
                <a16:creationId xmlns:a16="http://schemas.microsoft.com/office/drawing/2014/main" xmlns="" id="{799B3E34-C572-4A56-92AF-6382B4C0940B}"/>
              </a:ext>
            </a:extLst>
          </p:cNvPr>
          <p:cNvSpPr>
            <a:spLocks noGrp="1"/>
          </p:cNvSpPr>
          <p:nvPr/>
        </p:nvSpPr>
        <p:spPr>
          <a:xfrm>
            <a:off x="552450" y="819150"/>
            <a:ext cx="11087100" cy="895350"/>
          </a:xfrm>
          <a:prstGeom prst="rect">
            <a:avLst/>
          </a:prstGeom>
          <a:noFill/>
          <a:ln w="0">
            <a:noFill/>
          </a:ln>
        </p:spPr>
        <p:txBody>
          <a:bodyPr wrap="square" lIns="0" tIns="0" rIns="0" bIns="0" anchor="t">
            <a:noAutofit/>
          </a:bodyPr>
          <a:lstStyle/>
          <a:p>
            <a:pPr algn="l">
              <a:defRPr sz="3150" b="1">
                <a:solidFill>
                  <a:srgbClr val="184B3E"/>
                </a:solidFill>
                <a:latin typeface="Georgia"/>
                <a:ea typeface="Georgia"/>
                <a:cs typeface="Georgia"/>
              </a:defRPr>
            </a:pPr>
            <a:r>
              <a:rPr sz="3150" b="1">
                <a:solidFill>
                  <a:srgbClr val="184B3E"/>
                </a:solidFill>
                <a:latin typeface="Georgia"/>
                <a:ea typeface="Georgia"/>
                <a:cs typeface="Georgia"/>
              </a:rPr>
              <a:t>Trust needs more than a fluent answer.</a:t>
            </a:r>
          </a:p>
        </p:txBody>
      </p:sp>
      <p:sp>
        <p:nvSpPr>
          <p:cNvPr id="3" name="group-footer">
            <a:extLst>
              <a:ext uri="{FF2B5EF4-FFF2-40B4-BE49-F238E27FC236}">
                <a16:creationId xmlns:a16="http://schemas.microsoft.com/office/drawing/2014/main" xmlns="" id="{6063B03A-4E74-45D3-A828-55724B232C03}"/>
              </a:ext>
            </a:extLst>
          </p:cNvPr>
          <p:cNvSpPr>
            <a:spLocks noGrp="1"/>
          </p:cNvSpPr>
          <p:nvPr/>
        </p:nvSpPr>
        <p:spPr>
          <a:xfrm>
            <a:off x="552450" y="6553200"/>
            <a:ext cx="1714500" cy="152400"/>
          </a:xfrm>
          <a:prstGeom prst="rect">
            <a:avLst/>
          </a:prstGeom>
          <a:noFill/>
          <a:ln w="0">
            <a:noFill/>
          </a:ln>
        </p:spPr>
        <p:txBody>
          <a:bodyPr wrap="square" lIns="0" tIns="0" rIns="0" bIns="0" anchor="t">
            <a:noAutofit/>
          </a:bodyPr>
          <a:lstStyle/>
          <a:p>
            <a:pPr algn="l">
              <a:defRPr sz="750" b="1">
                <a:solidFill>
                  <a:srgbClr val="6D6560"/>
                </a:solidFill>
                <a:latin typeface="Arial"/>
                <a:ea typeface="Arial"/>
                <a:cs typeface="Arial"/>
              </a:defRPr>
            </a:pPr>
            <a:r>
              <a:rPr sz="750" b="1">
                <a:solidFill>
                  <a:srgbClr val="6D6560"/>
                </a:solidFill>
                <a:latin typeface="Arial"/>
                <a:ea typeface="Arial"/>
                <a:cs typeface="Arial"/>
              </a:rPr>
              <a:t>GROUP 62</a:t>
            </a:r>
          </a:p>
        </p:txBody>
      </p:sp>
      <p:sp>
        <p:nvSpPr>
          <p:cNvPr id="4" name="page-number">
            <a:extLst>
              <a:ext uri="{FF2B5EF4-FFF2-40B4-BE49-F238E27FC236}">
                <a16:creationId xmlns:a16="http://schemas.microsoft.com/office/drawing/2014/main" xmlns="" id="{00C0C7B6-D120-491C-9E96-3248D4E5FA90}"/>
              </a:ext>
            </a:extLst>
          </p:cNvPr>
          <p:cNvSpPr>
            <a:spLocks noGrp="1"/>
          </p:cNvSpPr>
          <p:nvPr/>
        </p:nvSpPr>
        <p:spPr>
          <a:xfrm>
            <a:off x="11144250" y="6553200"/>
            <a:ext cx="495300" cy="152400"/>
          </a:xfrm>
          <a:prstGeom prst="rect">
            <a:avLst/>
          </a:prstGeom>
          <a:noFill/>
          <a:ln w="0">
            <a:noFill/>
          </a:ln>
        </p:spPr>
        <p:txBody>
          <a:bodyPr wrap="square" lIns="0" tIns="0" rIns="0" bIns="0" anchor="t">
            <a:noAutofit/>
          </a:bodyPr>
          <a:lstStyle/>
          <a:p>
            <a:pPr algn="r">
              <a:defRPr sz="750" b="1">
                <a:solidFill>
                  <a:srgbClr val="6D6560"/>
                </a:solidFill>
                <a:latin typeface="Arial"/>
                <a:ea typeface="Arial"/>
                <a:cs typeface="Arial"/>
              </a:defRPr>
            </a:pPr>
            <a:r>
              <a:rPr sz="750" b="1">
                <a:solidFill>
                  <a:srgbClr val="6D6560"/>
                </a:solidFill>
                <a:latin typeface="Arial"/>
                <a:ea typeface="Arial"/>
                <a:cs typeface="Arial"/>
              </a:rPr>
              <a:t>05</a:t>
            </a:r>
          </a:p>
        </p:txBody>
      </p:sp>
      <p:sp>
        <p:nvSpPr>
          <p:cNvPr id="5" name="eval-intro">
            <a:extLst>
              <a:ext uri="{FF2B5EF4-FFF2-40B4-BE49-F238E27FC236}">
                <a16:creationId xmlns:a16="http://schemas.microsoft.com/office/drawing/2014/main" xmlns="" id="{AA52C559-7A44-4393-AA54-1A5C77B4B24A}"/>
              </a:ext>
            </a:extLst>
          </p:cNvPr>
          <p:cNvSpPr>
            <a:spLocks noGrp="1"/>
          </p:cNvSpPr>
          <p:nvPr/>
        </p:nvSpPr>
        <p:spPr>
          <a:xfrm>
            <a:off x="552450" y="1476375"/>
            <a:ext cx="11049000" cy="409575"/>
          </a:xfrm>
          <a:prstGeom prst="rect">
            <a:avLst/>
          </a:prstGeom>
          <a:noFill/>
          <a:ln w="0">
            <a:noFill/>
          </a:ln>
        </p:spPr>
        <p:txBody>
          <a:bodyPr wrap="square" lIns="0" tIns="0" rIns="0" bIns="0" anchor="t">
            <a:noAutofit/>
          </a:bodyPr>
          <a:lstStyle/>
          <a:p>
            <a:pPr algn="l">
              <a:defRPr sz="1575" b="0">
                <a:solidFill>
                  <a:srgbClr val="6D6560"/>
                </a:solidFill>
                <a:latin typeface="Arial"/>
                <a:ea typeface="Arial"/>
                <a:cs typeface="Arial"/>
              </a:defRPr>
            </a:pPr>
            <a:r>
              <a:rPr sz="1575" b="0">
                <a:solidFill>
                  <a:srgbClr val="6D6560"/>
                </a:solidFill>
                <a:latin typeface="Arial"/>
                <a:ea typeface="Arial"/>
                <a:cs typeface="Arial"/>
              </a:rPr>
              <a:t>We inspect how an answer was built, then test the boundaries it must respect.</a:t>
            </a:r>
          </a:p>
        </p:txBody>
      </p:sp>
      <p:sp>
        <p:nvSpPr>
          <p:cNvPr id="6" name="trace-heading">
            <a:extLst>
              <a:ext uri="{FF2B5EF4-FFF2-40B4-BE49-F238E27FC236}">
                <a16:creationId xmlns:a16="http://schemas.microsoft.com/office/drawing/2014/main" xmlns="" id="{AD36E4B8-D7DF-445A-8121-C6A38E650581}"/>
              </a:ext>
            </a:extLst>
          </p:cNvPr>
          <p:cNvSpPr>
            <a:spLocks noGrp="1"/>
          </p:cNvSpPr>
          <p:nvPr/>
        </p:nvSpPr>
        <p:spPr>
          <a:xfrm>
            <a:off x="552450" y="2181225"/>
            <a:ext cx="5238750" cy="352425"/>
          </a:xfrm>
          <a:prstGeom prst="rect">
            <a:avLst/>
          </a:prstGeom>
          <a:noFill/>
          <a:ln w="0">
            <a:noFill/>
          </a:ln>
        </p:spPr>
        <p:txBody>
          <a:bodyPr wrap="square" lIns="0" tIns="0" rIns="0" bIns="0" anchor="t">
            <a:noAutofit/>
          </a:bodyPr>
          <a:lstStyle/>
          <a:p>
            <a:pPr algn="l">
              <a:defRPr sz="2025" b="1">
                <a:solidFill>
                  <a:srgbClr val="184B3E"/>
                </a:solidFill>
                <a:latin typeface="Georgia"/>
                <a:ea typeface="Georgia"/>
                <a:cs typeface="Georgia"/>
              </a:defRPr>
            </a:pPr>
            <a:r>
              <a:rPr sz="2025" b="1">
                <a:solidFill>
                  <a:srgbClr val="184B3E"/>
                </a:solidFill>
                <a:latin typeface="Georgia"/>
                <a:ea typeface="Georgia"/>
                <a:cs typeface="Georgia"/>
              </a:rPr>
              <a:t>What we can trace</a:t>
            </a:r>
          </a:p>
        </p:txBody>
      </p:sp>
      <p:sp>
        <p:nvSpPr>
          <p:cNvPr id="7" name="tests-heading">
            <a:extLst>
              <a:ext uri="{FF2B5EF4-FFF2-40B4-BE49-F238E27FC236}">
                <a16:creationId xmlns:a16="http://schemas.microsoft.com/office/drawing/2014/main" xmlns="" id="{80808131-82EA-406E-AF9A-65CEFD87AD37}"/>
              </a:ext>
            </a:extLst>
          </p:cNvPr>
          <p:cNvSpPr>
            <a:spLocks noGrp="1"/>
          </p:cNvSpPr>
          <p:nvPr/>
        </p:nvSpPr>
        <p:spPr>
          <a:xfrm>
            <a:off x="6400800" y="2181225"/>
            <a:ext cx="5238750" cy="352425"/>
          </a:xfrm>
          <a:prstGeom prst="rect">
            <a:avLst/>
          </a:prstGeom>
          <a:noFill/>
          <a:ln w="0">
            <a:noFill/>
          </a:ln>
        </p:spPr>
        <p:txBody>
          <a:bodyPr wrap="square" lIns="0" tIns="0" rIns="0" bIns="0" anchor="t">
            <a:noAutofit/>
          </a:bodyPr>
          <a:lstStyle/>
          <a:p>
            <a:pPr algn="l">
              <a:defRPr sz="2025" b="1">
                <a:solidFill>
                  <a:srgbClr val="184B3E"/>
                </a:solidFill>
                <a:latin typeface="Georgia"/>
                <a:ea typeface="Georgia"/>
                <a:cs typeface="Georgia"/>
              </a:defRPr>
            </a:pPr>
            <a:r>
              <a:rPr sz="2025" b="1">
                <a:solidFill>
                  <a:srgbClr val="184B3E"/>
                </a:solidFill>
                <a:latin typeface="Georgia"/>
                <a:ea typeface="Georgia"/>
                <a:cs typeface="Georgia"/>
              </a:rPr>
              <a:t>What we checked</a:t>
            </a:r>
          </a:p>
        </p:txBody>
      </p:sp>
      <p:sp>
        <p:nvSpPr>
          <p:cNvPr id="8" name="column-divider">
            <a:extLst>
              <a:ext uri="{FF2B5EF4-FFF2-40B4-BE49-F238E27FC236}">
                <a16:creationId xmlns:a16="http://schemas.microsoft.com/office/drawing/2014/main" xmlns="" id="{64D5DAF8-1E1B-4085-BBF7-DF8DB1A4498B}"/>
              </a:ext>
            </a:extLst>
          </p:cNvPr>
          <p:cNvSpPr>
            <a:spLocks noGrp="1"/>
          </p:cNvSpPr>
          <p:nvPr/>
        </p:nvSpPr>
        <p:spPr>
          <a:xfrm>
            <a:off x="6029325" y="2181225"/>
            <a:ext cx="9525" cy="2390775"/>
          </a:xfrm>
          <a:prstGeom prst="rect">
            <a:avLst/>
          </a:prstGeom>
          <a:solidFill>
            <a:srgbClr val="DDD5CB"/>
          </a:solidFill>
          <a:ln w="0">
            <a:noFill/>
          </a:ln>
        </p:spPr>
      </p:sp>
      <p:sp>
        <p:nvSpPr>
          <p:cNvPr id="9" name="eval-0-0-title">
            <a:extLst>
              <a:ext uri="{FF2B5EF4-FFF2-40B4-BE49-F238E27FC236}">
                <a16:creationId xmlns:a16="http://schemas.microsoft.com/office/drawing/2014/main" xmlns="" id="{E4A412F4-211C-4F77-9C36-2C8FAB0AD5E6}"/>
              </a:ext>
            </a:extLst>
          </p:cNvPr>
          <p:cNvSpPr>
            <a:spLocks noGrp="1"/>
          </p:cNvSpPr>
          <p:nvPr/>
        </p:nvSpPr>
        <p:spPr>
          <a:xfrm>
            <a:off x="552450" y="2714625"/>
            <a:ext cx="5219700" cy="266700"/>
          </a:xfrm>
          <a:prstGeom prst="rect">
            <a:avLst/>
          </a:prstGeom>
          <a:noFill/>
          <a:ln w="0">
            <a:noFill/>
          </a:ln>
        </p:spPr>
        <p:txBody>
          <a:bodyPr wrap="square" lIns="0" tIns="0" rIns="0" bIns="0" anchor="t">
            <a:noAutofit/>
          </a:bodyPr>
          <a:lstStyle/>
          <a:p>
            <a:pPr algn="l">
              <a:defRPr sz="1500" b="1">
                <a:solidFill>
                  <a:srgbClr val="25211F"/>
                </a:solidFill>
                <a:latin typeface="Arial"/>
                <a:ea typeface="Arial"/>
                <a:cs typeface="Arial"/>
              </a:defRPr>
            </a:pPr>
            <a:r>
              <a:rPr sz="1500" b="1">
                <a:solidFill>
                  <a:srgbClr val="25211F"/>
                </a:solidFill>
                <a:latin typeface="Arial"/>
                <a:ea typeface="Arial"/>
                <a:cs typeface="Arial"/>
              </a:rPr>
              <a:t>Context and routing</a:t>
            </a:r>
          </a:p>
        </p:txBody>
      </p:sp>
      <p:sp>
        <p:nvSpPr>
          <p:cNvPr id="10" name="eval-0-0-body">
            <a:extLst>
              <a:ext uri="{FF2B5EF4-FFF2-40B4-BE49-F238E27FC236}">
                <a16:creationId xmlns:a16="http://schemas.microsoft.com/office/drawing/2014/main" xmlns="" id="{07B3528F-D2FC-49C8-BE19-4CB560A1EE43}"/>
              </a:ext>
            </a:extLst>
          </p:cNvPr>
          <p:cNvSpPr>
            <a:spLocks noGrp="1"/>
          </p:cNvSpPr>
          <p:nvPr/>
        </p:nvSpPr>
        <p:spPr>
          <a:xfrm>
            <a:off x="552450" y="3000375"/>
            <a:ext cx="5219700" cy="361950"/>
          </a:xfrm>
          <a:prstGeom prst="rect">
            <a:avLst/>
          </a:prstGeom>
          <a:noFill/>
          <a:ln w="0">
            <a:noFill/>
          </a:ln>
        </p:spPr>
        <p:txBody>
          <a:bodyPr wrap="square" lIns="0" tIns="0" rIns="0" bIns="0" anchor="t">
            <a:noAutofit/>
          </a:bodyPr>
          <a:lstStyle/>
          <a:p>
            <a:pPr algn="l">
              <a:defRPr sz="1275" b="0">
                <a:solidFill>
                  <a:srgbClr val="6D6560"/>
                </a:solidFill>
                <a:latin typeface="Arial"/>
                <a:ea typeface="Arial"/>
                <a:cs typeface="Arial"/>
              </a:defRPr>
            </a:pPr>
            <a:r>
              <a:rPr sz="1275" b="0">
                <a:solidFill>
                  <a:srgbClr val="6D6560"/>
                </a:solidFill>
                <a:latin typeface="Arial"/>
                <a:ea typeface="Arial"/>
                <a:cs typeface="Arial"/>
              </a:rPr>
              <a:t>Journey, reported constraints and the selected specialist.</a:t>
            </a:r>
          </a:p>
        </p:txBody>
      </p:sp>
      <p:sp>
        <p:nvSpPr>
          <p:cNvPr id="11" name="eval-0-1-title">
            <a:extLst>
              <a:ext uri="{FF2B5EF4-FFF2-40B4-BE49-F238E27FC236}">
                <a16:creationId xmlns:a16="http://schemas.microsoft.com/office/drawing/2014/main" xmlns="" id="{55D2A840-4249-48C8-95CA-DF7F6E842571}"/>
              </a:ext>
            </a:extLst>
          </p:cNvPr>
          <p:cNvSpPr>
            <a:spLocks noGrp="1"/>
          </p:cNvSpPr>
          <p:nvPr/>
        </p:nvSpPr>
        <p:spPr>
          <a:xfrm>
            <a:off x="552450" y="3381375"/>
            <a:ext cx="5219700" cy="266700"/>
          </a:xfrm>
          <a:prstGeom prst="rect">
            <a:avLst/>
          </a:prstGeom>
          <a:noFill/>
          <a:ln w="0">
            <a:noFill/>
          </a:ln>
        </p:spPr>
        <p:txBody>
          <a:bodyPr wrap="square" lIns="0" tIns="0" rIns="0" bIns="0" anchor="t">
            <a:noAutofit/>
          </a:bodyPr>
          <a:lstStyle/>
          <a:p>
            <a:pPr algn="l">
              <a:defRPr sz="1500" b="1">
                <a:solidFill>
                  <a:srgbClr val="25211F"/>
                </a:solidFill>
                <a:latin typeface="Arial"/>
                <a:ea typeface="Arial"/>
                <a:cs typeface="Arial"/>
              </a:defRPr>
            </a:pPr>
            <a:r>
              <a:rPr sz="1500" b="1">
                <a:solidFill>
                  <a:srgbClr val="25211F"/>
                </a:solidFill>
                <a:latin typeface="Arial"/>
                <a:ea typeface="Arial"/>
                <a:cs typeface="Arial"/>
              </a:rPr>
              <a:t>Evidence and validation</a:t>
            </a:r>
          </a:p>
        </p:txBody>
      </p:sp>
      <p:sp>
        <p:nvSpPr>
          <p:cNvPr id="12" name="eval-0-1-body">
            <a:extLst>
              <a:ext uri="{FF2B5EF4-FFF2-40B4-BE49-F238E27FC236}">
                <a16:creationId xmlns:a16="http://schemas.microsoft.com/office/drawing/2014/main" xmlns="" id="{D32DEA58-C026-4300-951E-561894A31FF5}"/>
              </a:ext>
            </a:extLst>
          </p:cNvPr>
          <p:cNvSpPr>
            <a:spLocks noGrp="1"/>
          </p:cNvSpPr>
          <p:nvPr/>
        </p:nvSpPr>
        <p:spPr>
          <a:xfrm>
            <a:off x="552450" y="3667125"/>
            <a:ext cx="5219700" cy="361950"/>
          </a:xfrm>
          <a:prstGeom prst="rect">
            <a:avLst/>
          </a:prstGeom>
          <a:noFill/>
          <a:ln w="0">
            <a:noFill/>
          </a:ln>
        </p:spPr>
        <p:txBody>
          <a:bodyPr wrap="square" lIns="0" tIns="0" rIns="0" bIns="0" anchor="t">
            <a:noAutofit/>
          </a:bodyPr>
          <a:lstStyle/>
          <a:p>
            <a:pPr algn="l">
              <a:defRPr sz="1275" b="0">
                <a:solidFill>
                  <a:srgbClr val="6D6560"/>
                </a:solidFill>
                <a:latin typeface="Arial"/>
                <a:ea typeface="Arial"/>
                <a:cs typeface="Arial"/>
              </a:defRPr>
            </a:pPr>
            <a:r>
              <a:rPr sz="1275" b="0">
                <a:solidFill>
                  <a:srgbClr val="6D6560"/>
                </a:solidFill>
                <a:latin typeface="Arial"/>
                <a:ea typeface="Arial"/>
                <a:cs typeface="Arial"/>
              </a:rPr>
              <a:t>Retrieved source IDs, citations and claim checks.</a:t>
            </a:r>
          </a:p>
        </p:txBody>
      </p:sp>
      <p:sp>
        <p:nvSpPr>
          <p:cNvPr id="13" name="eval-0-2-title">
            <a:extLst>
              <a:ext uri="{FF2B5EF4-FFF2-40B4-BE49-F238E27FC236}">
                <a16:creationId xmlns:a16="http://schemas.microsoft.com/office/drawing/2014/main" xmlns="" id="{82BC8316-4A4E-41BF-9018-EFE82B478EF0}"/>
              </a:ext>
            </a:extLst>
          </p:cNvPr>
          <p:cNvSpPr>
            <a:spLocks noGrp="1"/>
          </p:cNvSpPr>
          <p:nvPr/>
        </p:nvSpPr>
        <p:spPr>
          <a:xfrm>
            <a:off x="552450" y="4048125"/>
            <a:ext cx="5219700" cy="266700"/>
          </a:xfrm>
          <a:prstGeom prst="rect">
            <a:avLst/>
          </a:prstGeom>
          <a:noFill/>
          <a:ln w="0">
            <a:noFill/>
          </a:ln>
        </p:spPr>
        <p:txBody>
          <a:bodyPr wrap="square" lIns="0" tIns="0" rIns="0" bIns="0" anchor="t">
            <a:noAutofit/>
          </a:bodyPr>
          <a:lstStyle/>
          <a:p>
            <a:pPr algn="l">
              <a:defRPr sz="1500" b="1">
                <a:solidFill>
                  <a:srgbClr val="25211F"/>
                </a:solidFill>
                <a:latin typeface="Arial"/>
                <a:ea typeface="Arial"/>
                <a:cs typeface="Arial"/>
              </a:defRPr>
            </a:pPr>
            <a:r>
              <a:rPr sz="1500" b="1">
                <a:solidFill>
                  <a:srgbClr val="25211F"/>
                </a:solidFill>
                <a:latin typeface="Arial"/>
                <a:ea typeface="Arial"/>
                <a:cs typeface="Arial"/>
              </a:rPr>
              <a:t>Runtime behaviour</a:t>
            </a:r>
          </a:p>
        </p:txBody>
      </p:sp>
      <p:sp>
        <p:nvSpPr>
          <p:cNvPr id="14" name="eval-0-2-body">
            <a:extLst>
              <a:ext uri="{FF2B5EF4-FFF2-40B4-BE49-F238E27FC236}">
                <a16:creationId xmlns:a16="http://schemas.microsoft.com/office/drawing/2014/main" xmlns="" id="{2308CA07-86AC-4D15-9A4A-DAE1C24A0A92}"/>
              </a:ext>
            </a:extLst>
          </p:cNvPr>
          <p:cNvSpPr>
            <a:spLocks noGrp="1"/>
          </p:cNvSpPr>
          <p:nvPr/>
        </p:nvSpPr>
        <p:spPr>
          <a:xfrm>
            <a:off x="552450" y="4333875"/>
            <a:ext cx="5219700" cy="361950"/>
          </a:xfrm>
          <a:prstGeom prst="rect">
            <a:avLst/>
          </a:prstGeom>
          <a:noFill/>
          <a:ln w="0">
            <a:noFill/>
          </a:ln>
        </p:spPr>
        <p:txBody>
          <a:bodyPr wrap="square" lIns="0" tIns="0" rIns="0" bIns="0" anchor="t">
            <a:noAutofit/>
          </a:bodyPr>
          <a:lstStyle/>
          <a:p>
            <a:pPr algn="l">
              <a:defRPr sz="1275" b="0">
                <a:solidFill>
                  <a:srgbClr val="6D6560"/>
                </a:solidFill>
                <a:latin typeface="Arial"/>
                <a:ea typeface="Arial"/>
                <a:cs typeface="Arial"/>
              </a:defRPr>
            </a:pPr>
            <a:r>
              <a:rPr sz="1275" b="0">
                <a:solidFill>
                  <a:srgbClr val="6D6560"/>
                </a:solidFill>
                <a:latin typeface="Arial"/>
                <a:ea typeface="Arial"/>
                <a:cs typeface="Arial"/>
              </a:rPr>
              <a:t>Provider calls, response time and local cost accounting.</a:t>
            </a:r>
          </a:p>
        </p:txBody>
      </p:sp>
      <p:sp>
        <p:nvSpPr>
          <p:cNvPr id="15" name="eval-1-0-title">
            <a:extLst>
              <a:ext uri="{FF2B5EF4-FFF2-40B4-BE49-F238E27FC236}">
                <a16:creationId xmlns:a16="http://schemas.microsoft.com/office/drawing/2014/main" xmlns="" id="{CED241C8-D919-4DCD-8A44-568DB51C17D1}"/>
              </a:ext>
            </a:extLst>
          </p:cNvPr>
          <p:cNvSpPr>
            <a:spLocks noGrp="1"/>
          </p:cNvSpPr>
          <p:nvPr/>
        </p:nvSpPr>
        <p:spPr>
          <a:xfrm>
            <a:off x="6400800" y="2714625"/>
            <a:ext cx="5219700" cy="266700"/>
          </a:xfrm>
          <a:prstGeom prst="rect">
            <a:avLst/>
          </a:prstGeom>
          <a:noFill/>
          <a:ln w="0">
            <a:noFill/>
          </a:ln>
        </p:spPr>
        <p:txBody>
          <a:bodyPr wrap="square" lIns="0" tIns="0" rIns="0" bIns="0" anchor="t">
            <a:noAutofit/>
          </a:bodyPr>
          <a:lstStyle/>
          <a:p>
            <a:pPr algn="l">
              <a:defRPr sz="1500" b="1">
                <a:solidFill>
                  <a:srgbClr val="25211F"/>
                </a:solidFill>
                <a:latin typeface="Arial"/>
                <a:ea typeface="Arial"/>
                <a:cs typeface="Arial"/>
              </a:defRPr>
            </a:pPr>
            <a:r>
              <a:rPr sz="1500" b="1">
                <a:solidFill>
                  <a:srgbClr val="25211F"/>
                </a:solidFill>
                <a:latin typeface="Arial"/>
                <a:ea typeface="Arial"/>
                <a:cs typeface="Arial"/>
              </a:rPr>
              <a:t>Personalisation</a:t>
            </a:r>
          </a:p>
        </p:txBody>
      </p:sp>
      <p:sp>
        <p:nvSpPr>
          <p:cNvPr id="16" name="eval-1-0-body">
            <a:extLst>
              <a:ext uri="{FF2B5EF4-FFF2-40B4-BE49-F238E27FC236}">
                <a16:creationId xmlns:a16="http://schemas.microsoft.com/office/drawing/2014/main" xmlns="" id="{4B8ADF84-C5AF-4829-9F00-3986CF39F26A}"/>
              </a:ext>
            </a:extLst>
          </p:cNvPr>
          <p:cNvSpPr>
            <a:spLocks noGrp="1"/>
          </p:cNvSpPr>
          <p:nvPr/>
        </p:nvSpPr>
        <p:spPr>
          <a:xfrm>
            <a:off x="6400800" y="3000375"/>
            <a:ext cx="5219700" cy="361950"/>
          </a:xfrm>
          <a:prstGeom prst="rect">
            <a:avLst/>
          </a:prstGeom>
          <a:noFill/>
          <a:ln w="0">
            <a:noFill/>
          </a:ln>
        </p:spPr>
        <p:txBody>
          <a:bodyPr wrap="square" lIns="0" tIns="0" rIns="0" bIns="0" anchor="t">
            <a:noAutofit/>
          </a:bodyPr>
          <a:lstStyle/>
          <a:p>
            <a:pPr algn="l">
              <a:defRPr sz="1275" b="0">
                <a:solidFill>
                  <a:srgbClr val="6D6560"/>
                </a:solidFill>
                <a:latin typeface="Arial"/>
                <a:ea typeface="Arial"/>
                <a:cs typeface="Arial"/>
              </a:defRPr>
            </a:pPr>
            <a:r>
              <a:rPr sz="1275" b="0">
                <a:solidFill>
                  <a:srgbClr val="6D6560"/>
                </a:solidFill>
                <a:latin typeface="Arial"/>
                <a:ea typeface="Arial"/>
                <a:cs typeface="Arial"/>
              </a:rPr>
              <a:t>Allergy context, vegan follow-up and heartburn support.</a:t>
            </a:r>
          </a:p>
        </p:txBody>
      </p:sp>
      <p:sp>
        <p:nvSpPr>
          <p:cNvPr id="17" name="eval-1-1-title">
            <a:extLst>
              <a:ext uri="{FF2B5EF4-FFF2-40B4-BE49-F238E27FC236}">
                <a16:creationId xmlns:a16="http://schemas.microsoft.com/office/drawing/2014/main" xmlns="" id="{46D3830C-CE9A-4966-845E-F34CD7AB741C}"/>
              </a:ext>
            </a:extLst>
          </p:cNvPr>
          <p:cNvSpPr>
            <a:spLocks noGrp="1"/>
          </p:cNvSpPr>
          <p:nvPr/>
        </p:nvSpPr>
        <p:spPr>
          <a:xfrm>
            <a:off x="6400800" y="3381375"/>
            <a:ext cx="5219700" cy="266700"/>
          </a:xfrm>
          <a:prstGeom prst="rect">
            <a:avLst/>
          </a:prstGeom>
          <a:noFill/>
          <a:ln w="0">
            <a:noFill/>
          </a:ln>
        </p:spPr>
        <p:txBody>
          <a:bodyPr wrap="square" lIns="0" tIns="0" rIns="0" bIns="0" anchor="t">
            <a:noAutofit/>
          </a:bodyPr>
          <a:lstStyle/>
          <a:p>
            <a:pPr algn="l">
              <a:defRPr sz="1500" b="1">
                <a:solidFill>
                  <a:srgbClr val="25211F"/>
                </a:solidFill>
                <a:latin typeface="Arial"/>
                <a:ea typeface="Arial"/>
                <a:cs typeface="Arial"/>
              </a:defRPr>
            </a:pPr>
            <a:r>
              <a:rPr sz="1500" b="1">
                <a:solidFill>
                  <a:srgbClr val="25211F"/>
                </a:solidFill>
                <a:latin typeface="Arial"/>
                <a:ea typeface="Arial"/>
                <a:cs typeface="Arial"/>
              </a:rPr>
              <a:t>Planning</a:t>
            </a:r>
          </a:p>
        </p:txBody>
      </p:sp>
      <p:sp>
        <p:nvSpPr>
          <p:cNvPr id="18" name="eval-1-1-body">
            <a:extLst>
              <a:ext uri="{FF2B5EF4-FFF2-40B4-BE49-F238E27FC236}">
                <a16:creationId xmlns:a16="http://schemas.microsoft.com/office/drawing/2014/main" xmlns="" id="{9F5AFD8D-1618-4146-BA25-FB4EF0709FEA}"/>
              </a:ext>
            </a:extLst>
          </p:cNvPr>
          <p:cNvSpPr>
            <a:spLocks noGrp="1"/>
          </p:cNvSpPr>
          <p:nvPr/>
        </p:nvSpPr>
        <p:spPr>
          <a:xfrm>
            <a:off x="6400800" y="3667125"/>
            <a:ext cx="5219700" cy="361950"/>
          </a:xfrm>
          <a:prstGeom prst="rect">
            <a:avLst/>
          </a:prstGeom>
          <a:noFill/>
          <a:ln w="0">
            <a:noFill/>
          </a:ln>
        </p:spPr>
        <p:txBody>
          <a:bodyPr wrap="square" lIns="0" tIns="0" rIns="0" bIns="0" anchor="t">
            <a:noAutofit/>
          </a:bodyPr>
          <a:lstStyle/>
          <a:p>
            <a:pPr algn="l">
              <a:defRPr sz="1275" b="0">
                <a:solidFill>
                  <a:srgbClr val="6D6560"/>
                </a:solidFill>
                <a:latin typeface="Arial"/>
                <a:ea typeface="Arial"/>
                <a:cs typeface="Arial"/>
              </a:defRPr>
            </a:pPr>
            <a:r>
              <a:rPr sz="1275" b="0">
                <a:solidFill>
                  <a:srgbClr val="6D6560"/>
                </a:solidFill>
                <a:latin typeface="Arial"/>
                <a:ea typeface="Arial"/>
                <a:cs typeface="Arial"/>
              </a:rPr>
              <a:t>Live generation of a complete seven-day schedule.</a:t>
            </a:r>
          </a:p>
        </p:txBody>
      </p:sp>
      <p:sp>
        <p:nvSpPr>
          <p:cNvPr id="19" name="eval-1-2-title">
            <a:extLst>
              <a:ext uri="{FF2B5EF4-FFF2-40B4-BE49-F238E27FC236}">
                <a16:creationId xmlns:a16="http://schemas.microsoft.com/office/drawing/2014/main" xmlns="" id="{C95EC57C-5711-4E77-AE9B-8995F3E63C56}"/>
              </a:ext>
            </a:extLst>
          </p:cNvPr>
          <p:cNvSpPr>
            <a:spLocks noGrp="1"/>
          </p:cNvSpPr>
          <p:nvPr/>
        </p:nvSpPr>
        <p:spPr>
          <a:xfrm>
            <a:off x="6400800" y="4048125"/>
            <a:ext cx="5219700" cy="266700"/>
          </a:xfrm>
          <a:prstGeom prst="rect">
            <a:avLst/>
          </a:prstGeom>
          <a:noFill/>
          <a:ln w="0">
            <a:noFill/>
          </a:ln>
        </p:spPr>
        <p:txBody>
          <a:bodyPr wrap="square" lIns="0" tIns="0" rIns="0" bIns="0" anchor="t">
            <a:noAutofit/>
          </a:bodyPr>
          <a:lstStyle/>
          <a:p>
            <a:pPr algn="l">
              <a:defRPr sz="1500" b="1">
                <a:solidFill>
                  <a:srgbClr val="25211F"/>
                </a:solidFill>
                <a:latin typeface="Arial"/>
                <a:ea typeface="Arial"/>
                <a:cs typeface="Arial"/>
              </a:defRPr>
            </a:pPr>
            <a:r>
              <a:rPr sz="1500" b="1">
                <a:solidFill>
                  <a:srgbClr val="25211F"/>
                </a:solidFill>
                <a:latin typeface="Arial"/>
                <a:ea typeface="Arial"/>
                <a:cs typeface="Arial"/>
              </a:rPr>
              <a:t>Safety boundaries</a:t>
            </a:r>
          </a:p>
        </p:txBody>
      </p:sp>
      <p:sp>
        <p:nvSpPr>
          <p:cNvPr id="20" name="eval-1-2-body">
            <a:extLst>
              <a:ext uri="{FF2B5EF4-FFF2-40B4-BE49-F238E27FC236}">
                <a16:creationId xmlns:a16="http://schemas.microsoft.com/office/drawing/2014/main" xmlns="" id="{4C92DB40-F280-41B5-8459-A88E1A75F526}"/>
              </a:ext>
            </a:extLst>
          </p:cNvPr>
          <p:cNvSpPr>
            <a:spLocks noGrp="1"/>
          </p:cNvSpPr>
          <p:nvPr/>
        </p:nvSpPr>
        <p:spPr>
          <a:xfrm>
            <a:off x="6400800" y="4333875"/>
            <a:ext cx="5219700" cy="361950"/>
          </a:xfrm>
          <a:prstGeom prst="rect">
            <a:avLst/>
          </a:prstGeom>
          <a:noFill/>
          <a:ln w="0">
            <a:noFill/>
          </a:ln>
        </p:spPr>
        <p:txBody>
          <a:bodyPr wrap="square" lIns="0" tIns="0" rIns="0" bIns="0" anchor="t">
            <a:noAutofit/>
          </a:bodyPr>
          <a:lstStyle/>
          <a:p>
            <a:pPr algn="l">
              <a:defRPr sz="1275" b="0">
                <a:solidFill>
                  <a:srgbClr val="6D6560"/>
                </a:solidFill>
                <a:latin typeface="Arial"/>
                <a:ea typeface="Arial"/>
                <a:cs typeface="Arial"/>
              </a:defRPr>
            </a:pPr>
            <a:r>
              <a:rPr sz="1275" b="0">
                <a:solidFill>
                  <a:srgbClr val="6D6560"/>
                </a:solidFill>
                <a:latin typeface="Arial"/>
                <a:ea typeface="Arial"/>
                <a:cs typeface="Arial"/>
              </a:rPr>
              <a:t>Urgent-help routing and refusal to reveal secrets.</a:t>
            </a:r>
          </a:p>
        </p:txBody>
      </p:sp>
      <p:sp>
        <p:nvSpPr>
          <p:cNvPr id="21" name="engineering-results">
            <a:extLst>
              <a:ext uri="{FF2B5EF4-FFF2-40B4-BE49-F238E27FC236}">
                <a16:creationId xmlns:a16="http://schemas.microsoft.com/office/drawing/2014/main" xmlns="" id="{396917C5-CEFF-4115-B304-AFCAB5B4527C}"/>
              </a:ext>
            </a:extLst>
          </p:cNvPr>
          <p:cNvSpPr>
            <a:spLocks noGrp="1"/>
          </p:cNvSpPr>
          <p:nvPr/>
        </p:nvSpPr>
        <p:spPr>
          <a:xfrm>
            <a:off x="552450" y="4953000"/>
            <a:ext cx="11087100" cy="914400"/>
          </a:xfrm>
          <a:prstGeom prst="roundRect">
            <a:avLst>
              <a:gd name="adj" fmla="val 8333"/>
            </a:avLst>
          </a:prstGeom>
          <a:solidFill>
            <a:srgbClr val="EDF1E8"/>
          </a:solidFill>
          <a:ln w="9525">
            <a:solidFill>
              <a:srgbClr val="DDD5CB"/>
            </a:solidFill>
          </a:ln>
        </p:spPr>
      </p:sp>
      <p:sp>
        <p:nvSpPr>
          <p:cNvPr id="22" name="metric-0">
            <a:extLst>
              <a:ext uri="{FF2B5EF4-FFF2-40B4-BE49-F238E27FC236}">
                <a16:creationId xmlns:a16="http://schemas.microsoft.com/office/drawing/2014/main" xmlns="" id="{45363158-EB4F-4CC8-AF42-5A323DC627B0}"/>
              </a:ext>
            </a:extLst>
          </p:cNvPr>
          <p:cNvSpPr>
            <a:spLocks noGrp="1"/>
          </p:cNvSpPr>
          <p:nvPr/>
        </p:nvSpPr>
        <p:spPr>
          <a:xfrm>
            <a:off x="800100" y="5067300"/>
            <a:ext cx="1238250" cy="514350"/>
          </a:xfrm>
          <a:prstGeom prst="rect">
            <a:avLst/>
          </a:prstGeom>
          <a:noFill/>
          <a:ln w="0">
            <a:noFill/>
          </a:ln>
        </p:spPr>
        <p:txBody>
          <a:bodyPr wrap="square" lIns="0" tIns="0" rIns="0" bIns="0" anchor="t">
            <a:noAutofit/>
          </a:bodyPr>
          <a:lstStyle/>
          <a:p>
            <a:pPr algn="l">
              <a:defRPr sz="3000" b="1">
                <a:solidFill>
                  <a:srgbClr val="184B3E"/>
                </a:solidFill>
                <a:latin typeface="Georgia"/>
                <a:ea typeface="Georgia"/>
                <a:cs typeface="Georgia"/>
              </a:defRPr>
            </a:pPr>
            <a:r>
              <a:rPr sz="3000" b="1">
                <a:solidFill>
                  <a:srgbClr val="184B3E"/>
                </a:solidFill>
                <a:latin typeface="Georgia"/>
                <a:ea typeface="Georgia"/>
                <a:cs typeface="Georgia"/>
              </a:rPr>
              <a:t>847</a:t>
            </a:r>
          </a:p>
        </p:txBody>
      </p:sp>
      <p:sp>
        <p:nvSpPr>
          <p:cNvPr id="23" name="metric-label-0">
            <a:extLst>
              <a:ext uri="{FF2B5EF4-FFF2-40B4-BE49-F238E27FC236}">
                <a16:creationId xmlns:a16="http://schemas.microsoft.com/office/drawing/2014/main" xmlns="" id="{19C376D9-3395-40FE-86CD-ABD789617394}"/>
              </a:ext>
            </a:extLst>
          </p:cNvPr>
          <p:cNvSpPr>
            <a:spLocks noGrp="1"/>
          </p:cNvSpPr>
          <p:nvPr/>
        </p:nvSpPr>
        <p:spPr>
          <a:xfrm>
            <a:off x="2066925" y="5172075"/>
            <a:ext cx="2133600" cy="504825"/>
          </a:xfrm>
          <a:prstGeom prst="rect">
            <a:avLst/>
          </a:prstGeom>
          <a:noFill/>
          <a:ln w="0">
            <a:noFill/>
          </a:ln>
        </p:spPr>
        <p:txBody>
          <a:bodyPr wrap="square" lIns="0" tIns="0" rIns="0" bIns="0" anchor="t">
            <a:noAutofit/>
          </a:bodyPr>
          <a:lstStyle/>
          <a:p>
            <a:pPr algn="l">
              <a:defRPr sz="1350" b="0">
                <a:solidFill>
                  <a:srgbClr val="184B3E"/>
                </a:solidFill>
                <a:latin typeface="Arial"/>
                <a:ea typeface="Arial"/>
                <a:cs typeface="Arial"/>
              </a:defRPr>
            </a:pPr>
            <a:r>
              <a:rPr sz="1350" b="0">
                <a:solidFill>
                  <a:srgbClr val="184B3E"/>
                </a:solidFill>
                <a:latin typeface="Arial"/>
                <a:ea typeface="Arial"/>
                <a:cs typeface="Arial"/>
              </a:rPr>
              <a:t>regression tests passed</a:t>
            </a:r>
          </a:p>
        </p:txBody>
      </p:sp>
      <p:sp>
        <p:nvSpPr>
          <p:cNvPr id="24" name="metric-1">
            <a:extLst>
              <a:ext uri="{FF2B5EF4-FFF2-40B4-BE49-F238E27FC236}">
                <a16:creationId xmlns:a16="http://schemas.microsoft.com/office/drawing/2014/main" xmlns="" id="{B47D0632-BF27-492B-BAAC-7477351A1AE0}"/>
              </a:ext>
            </a:extLst>
          </p:cNvPr>
          <p:cNvSpPr>
            <a:spLocks noGrp="1"/>
          </p:cNvSpPr>
          <p:nvPr/>
        </p:nvSpPr>
        <p:spPr>
          <a:xfrm>
            <a:off x="4429125" y="5067300"/>
            <a:ext cx="1238250" cy="514350"/>
          </a:xfrm>
          <a:prstGeom prst="rect">
            <a:avLst/>
          </a:prstGeom>
          <a:noFill/>
          <a:ln w="0">
            <a:noFill/>
          </a:ln>
        </p:spPr>
        <p:txBody>
          <a:bodyPr wrap="square" lIns="0" tIns="0" rIns="0" bIns="0" anchor="t">
            <a:noAutofit/>
          </a:bodyPr>
          <a:lstStyle/>
          <a:p>
            <a:pPr algn="l">
              <a:defRPr sz="3000" b="1">
                <a:solidFill>
                  <a:srgbClr val="184B3E"/>
                </a:solidFill>
                <a:latin typeface="Georgia"/>
                <a:ea typeface="Georgia"/>
                <a:cs typeface="Georgia"/>
              </a:defRPr>
            </a:pPr>
            <a:r>
              <a:rPr sz="3000" b="1">
                <a:solidFill>
                  <a:srgbClr val="184B3E"/>
                </a:solidFill>
                <a:latin typeface="Georgia"/>
                <a:ea typeface="Georgia"/>
                <a:cs typeface="Georgia"/>
              </a:rPr>
              <a:t>315</a:t>
            </a:r>
          </a:p>
        </p:txBody>
      </p:sp>
      <p:sp>
        <p:nvSpPr>
          <p:cNvPr id="25" name="metric-label-1">
            <a:extLst>
              <a:ext uri="{FF2B5EF4-FFF2-40B4-BE49-F238E27FC236}">
                <a16:creationId xmlns:a16="http://schemas.microsoft.com/office/drawing/2014/main" xmlns="" id="{8072EB00-E10F-4E91-B7F1-CE21C02449E9}"/>
              </a:ext>
            </a:extLst>
          </p:cNvPr>
          <p:cNvSpPr>
            <a:spLocks noGrp="1"/>
          </p:cNvSpPr>
          <p:nvPr/>
        </p:nvSpPr>
        <p:spPr>
          <a:xfrm>
            <a:off x="5695950" y="5172075"/>
            <a:ext cx="2133600" cy="504825"/>
          </a:xfrm>
          <a:prstGeom prst="rect">
            <a:avLst/>
          </a:prstGeom>
          <a:noFill/>
          <a:ln w="0">
            <a:noFill/>
          </a:ln>
        </p:spPr>
        <p:txBody>
          <a:bodyPr wrap="square" lIns="0" tIns="0" rIns="0" bIns="0" anchor="t">
            <a:noAutofit/>
          </a:bodyPr>
          <a:lstStyle/>
          <a:p>
            <a:pPr algn="l">
              <a:defRPr sz="1350" b="0">
                <a:solidFill>
                  <a:srgbClr val="184B3E"/>
                </a:solidFill>
                <a:latin typeface="Arial"/>
                <a:ea typeface="Arial"/>
                <a:cs typeface="Arial"/>
              </a:defRPr>
            </a:pPr>
            <a:r>
              <a:rPr sz="1350" b="0">
                <a:solidFill>
                  <a:srgbClr val="184B3E"/>
                </a:solidFill>
                <a:latin typeface="Arial"/>
                <a:ea typeface="Arial"/>
                <a:cs typeface="Arial"/>
              </a:rPr>
              <a:t>subtests passed</a:t>
            </a:r>
          </a:p>
        </p:txBody>
      </p:sp>
      <p:sp>
        <p:nvSpPr>
          <p:cNvPr id="26" name="metric-2">
            <a:extLst>
              <a:ext uri="{FF2B5EF4-FFF2-40B4-BE49-F238E27FC236}">
                <a16:creationId xmlns:a16="http://schemas.microsoft.com/office/drawing/2014/main" xmlns="" id="{21454EA0-1B9F-4684-B8B7-029B538FB3C2}"/>
              </a:ext>
            </a:extLst>
          </p:cNvPr>
          <p:cNvSpPr>
            <a:spLocks noGrp="1"/>
          </p:cNvSpPr>
          <p:nvPr/>
        </p:nvSpPr>
        <p:spPr>
          <a:xfrm>
            <a:off x="8058150" y="5067300"/>
            <a:ext cx="1238250" cy="514350"/>
          </a:xfrm>
          <a:prstGeom prst="rect">
            <a:avLst/>
          </a:prstGeom>
          <a:noFill/>
          <a:ln w="0">
            <a:noFill/>
          </a:ln>
        </p:spPr>
        <p:txBody>
          <a:bodyPr wrap="square" lIns="0" tIns="0" rIns="0" bIns="0" anchor="t">
            <a:noAutofit/>
          </a:bodyPr>
          <a:lstStyle/>
          <a:p>
            <a:pPr algn="l">
              <a:defRPr sz="3000" b="1">
                <a:solidFill>
                  <a:srgbClr val="184B3E"/>
                </a:solidFill>
                <a:latin typeface="Georgia"/>
                <a:ea typeface="Georgia"/>
                <a:cs typeface="Georgia"/>
              </a:defRPr>
            </a:pPr>
            <a:r>
              <a:rPr sz="3000" b="1">
                <a:solidFill>
                  <a:srgbClr val="184B3E"/>
                </a:solidFill>
                <a:latin typeface="Georgia"/>
                <a:ea typeface="Georgia"/>
                <a:cs typeface="Georgia"/>
              </a:rPr>
              <a:t>44</a:t>
            </a:r>
          </a:p>
        </p:txBody>
      </p:sp>
      <p:sp>
        <p:nvSpPr>
          <p:cNvPr id="27" name="metric-label-2">
            <a:extLst>
              <a:ext uri="{FF2B5EF4-FFF2-40B4-BE49-F238E27FC236}">
                <a16:creationId xmlns:a16="http://schemas.microsoft.com/office/drawing/2014/main" xmlns="" id="{BFE74BD2-9109-49BC-AEB0-9C21C2FA63A2}"/>
              </a:ext>
            </a:extLst>
          </p:cNvPr>
          <p:cNvSpPr>
            <a:spLocks noGrp="1"/>
          </p:cNvSpPr>
          <p:nvPr/>
        </p:nvSpPr>
        <p:spPr>
          <a:xfrm>
            <a:off x="9324975" y="5172075"/>
            <a:ext cx="2133600" cy="504825"/>
          </a:xfrm>
          <a:prstGeom prst="rect">
            <a:avLst/>
          </a:prstGeom>
          <a:noFill/>
          <a:ln w="0">
            <a:noFill/>
          </a:ln>
        </p:spPr>
        <p:txBody>
          <a:bodyPr wrap="square" lIns="0" tIns="0" rIns="0" bIns="0" anchor="t">
            <a:noAutofit/>
          </a:bodyPr>
          <a:lstStyle/>
          <a:p>
            <a:pPr algn="l">
              <a:defRPr sz="1350" b="0">
                <a:solidFill>
                  <a:srgbClr val="184B3E"/>
                </a:solidFill>
                <a:latin typeface="Arial"/>
                <a:ea typeface="Arial"/>
                <a:cs typeface="Arial"/>
              </a:defRPr>
            </a:pPr>
            <a:r>
              <a:rPr sz="1350" b="0">
                <a:solidFill>
                  <a:srgbClr val="184B3E"/>
                </a:solidFill>
                <a:latin typeface="Arial"/>
                <a:ea typeface="Arial"/>
                <a:cs typeface="Arial"/>
              </a:rPr>
              <a:t>tests skipped</a:t>
            </a:r>
          </a:p>
        </p:txBody>
      </p:sp>
      <p:sp>
        <p:nvSpPr>
          <p:cNvPr id="28" name="engineering-context">
            <a:extLst>
              <a:ext uri="{FF2B5EF4-FFF2-40B4-BE49-F238E27FC236}">
                <a16:creationId xmlns:a16="http://schemas.microsoft.com/office/drawing/2014/main" xmlns="" id="{335F14BD-D2C7-4797-A9B0-A9446763E3AD}"/>
              </a:ext>
            </a:extLst>
          </p:cNvPr>
          <p:cNvSpPr>
            <a:spLocks noGrp="1"/>
          </p:cNvSpPr>
          <p:nvPr/>
        </p:nvSpPr>
        <p:spPr>
          <a:xfrm>
            <a:off x="552450" y="5991225"/>
            <a:ext cx="11087100" cy="209550"/>
          </a:xfrm>
          <a:prstGeom prst="rect">
            <a:avLst/>
          </a:prstGeom>
          <a:noFill/>
          <a:ln w="0">
            <a:noFill/>
          </a:ln>
        </p:spPr>
        <p:txBody>
          <a:bodyPr wrap="square" lIns="0" tIns="0" rIns="0" bIns="0" anchor="t">
            <a:noAutofit/>
          </a:bodyPr>
          <a:lstStyle/>
          <a:p>
            <a:pPr algn="l">
              <a:defRPr sz="1125" b="0">
                <a:solidFill>
                  <a:srgbClr val="6D6560"/>
                </a:solidFill>
                <a:latin typeface="Arial"/>
                <a:ea typeface="Arial"/>
                <a:cs typeface="Arial"/>
              </a:defRPr>
            </a:pPr>
            <a:r>
              <a:rPr sz="1125" b="0">
                <a:solidFill>
                  <a:srgbClr val="6D6560"/>
                </a:solidFill>
                <a:latin typeface="Arial"/>
                <a:ea typeface="Arial"/>
                <a:cs typeface="Arial"/>
              </a:rPr>
              <a:t>Recorded local checks · 17 September 2026 · 5 chat exchanges + 1 balanced plan</a:t>
            </a:r>
          </a:p>
        </p:txBody>
      </p:sp>
      <p:sp>
        <p:nvSpPr>
          <p:cNvPr id="29" name="engineering-limits">
            <a:extLst>
              <a:ext uri="{FF2B5EF4-FFF2-40B4-BE49-F238E27FC236}">
                <a16:creationId xmlns:a16="http://schemas.microsoft.com/office/drawing/2014/main" xmlns="" id="{8EA64F29-F22F-4F63-B25F-CD2E7C7ADE86}"/>
              </a:ext>
            </a:extLst>
          </p:cNvPr>
          <p:cNvSpPr>
            <a:spLocks noGrp="1"/>
          </p:cNvSpPr>
          <p:nvPr/>
        </p:nvSpPr>
        <p:spPr>
          <a:xfrm>
            <a:off x="552450" y="6238875"/>
            <a:ext cx="11087100" cy="209550"/>
          </a:xfrm>
          <a:prstGeom prst="rect">
            <a:avLst/>
          </a:prstGeom>
          <a:noFill/>
          <a:ln w="0">
            <a:noFill/>
          </a:ln>
        </p:spPr>
        <p:txBody>
          <a:bodyPr wrap="square" lIns="0" tIns="0" rIns="0" bIns="0" anchor="t">
            <a:noAutofit/>
          </a:bodyPr>
          <a:lstStyle/>
          <a:p>
            <a:pPr algn="l">
              <a:defRPr sz="1125" b="0">
                <a:solidFill>
                  <a:srgbClr val="7A2F52"/>
                </a:solidFill>
                <a:latin typeface="Arial"/>
                <a:ea typeface="Arial"/>
                <a:cs typeface="Arial"/>
              </a:defRPr>
            </a:pPr>
            <a:r>
              <a:rPr sz="1125" b="0">
                <a:solidFill>
                  <a:srgbClr val="7A2F52"/>
                </a:solidFill>
                <a:latin typeface="Arial"/>
                <a:ea typeface="Arial"/>
                <a:cs typeface="Arial"/>
              </a:rPr>
              <a:t>Engineering verification, not clinical validation. Next: richer meal specificity and broader coverage.</a:t>
            </a:r>
          </a:p>
        </p:txBody>
      </p:sp>
    </p:spTree>
    <p:extLst>
      <p:ext uri="{BB962C8B-B14F-4D97-AF65-F5344CB8AC3E}">
        <p14:creationId xmlns:p14="http://schemas.microsoft.com/office/powerpoint/2010/main" xmlns="" val="19918650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9F4"/>
        </a:solidFill>
        <a:effectLst/>
      </p:bgPr>
    </p:bg>
    <p:spTree>
      <p:nvGrpSpPr>
        <p:cNvPr id="1" name=""/>
        <p:cNvGrpSpPr/>
        <p:nvPr/>
      </p:nvGrpSpPr>
      <p:grpSpPr>
        <a:xfrm>
          <a:off x="0" y="0"/>
          <a:ext cx="0" cy="0"/>
          <a:chOff x="0" y="0"/>
          <a:chExt cx="0" cy="0"/>
        </a:xfrm>
      </p:grpSpPr>
      <p:sp>
        <p:nvSpPr>
          <p:cNvPr id="23" name="section-label">
            <a:extLst>
              <a:ext uri="{FF2B5EF4-FFF2-40B4-BE49-F238E27FC236}">
                <a16:creationId xmlns:a16="http://schemas.microsoft.com/office/drawing/2014/main" xmlns="" id="{4C81ACBC-62E5-4375-92B2-9F546DFF2DBC}"/>
              </a:ext>
            </a:extLst>
          </p:cNvPr>
          <p:cNvSpPr>
            <a:spLocks noGrp="1"/>
          </p:cNvSpPr>
          <p:nvPr/>
        </p:nvSpPr>
        <p:spPr>
          <a:xfrm>
            <a:off x="552450" y="419100"/>
            <a:ext cx="10668000" cy="228600"/>
          </a:xfrm>
          <a:prstGeom prst="rect">
            <a:avLst/>
          </a:prstGeom>
          <a:noFill/>
          <a:ln w="0">
            <a:noFill/>
          </a:ln>
        </p:spPr>
        <p:txBody>
          <a:bodyPr wrap="square" lIns="0" tIns="0" rIns="0" bIns="0" anchor="t">
            <a:noAutofit/>
          </a:bodyPr>
          <a:lstStyle/>
          <a:p>
            <a:pPr algn="l">
              <a:defRPr sz="975" b="1">
                <a:solidFill>
                  <a:srgbClr val="7A2F52"/>
                </a:solidFill>
                <a:latin typeface="Arial"/>
                <a:ea typeface="Arial"/>
                <a:cs typeface="Arial"/>
              </a:defRPr>
            </a:pPr>
            <a:r>
              <a:rPr sz="975" b="1">
                <a:solidFill>
                  <a:srgbClr val="7A2F52"/>
                </a:solidFill>
                <a:latin typeface="Arial"/>
                <a:ea typeface="Arial"/>
                <a:cs typeface="Arial"/>
              </a:rPr>
              <a:t>IMMEDIATE ACTIONS + FUTURE SCOPE</a:t>
            </a:r>
          </a:p>
        </p:txBody>
      </p:sp>
      <p:sp>
        <p:nvSpPr>
          <p:cNvPr id="2" name="slide-title">
            <a:extLst>
              <a:ext uri="{FF2B5EF4-FFF2-40B4-BE49-F238E27FC236}">
                <a16:creationId xmlns:a16="http://schemas.microsoft.com/office/drawing/2014/main" xmlns="" id="{50B51D5E-F07A-4A6C-9321-8DED6922E993}"/>
              </a:ext>
            </a:extLst>
          </p:cNvPr>
          <p:cNvSpPr>
            <a:spLocks noGrp="1"/>
          </p:cNvSpPr>
          <p:nvPr/>
        </p:nvSpPr>
        <p:spPr>
          <a:xfrm>
            <a:off x="552450" y="819150"/>
            <a:ext cx="11087100" cy="895350"/>
          </a:xfrm>
          <a:prstGeom prst="rect">
            <a:avLst/>
          </a:prstGeom>
          <a:noFill/>
          <a:ln w="0">
            <a:noFill/>
          </a:ln>
        </p:spPr>
        <p:txBody>
          <a:bodyPr wrap="square" lIns="0" tIns="0" rIns="0" bIns="0" anchor="t">
            <a:noAutofit/>
          </a:bodyPr>
          <a:lstStyle/>
          <a:p>
            <a:pPr algn="l">
              <a:defRPr sz="3150" b="1">
                <a:solidFill>
                  <a:srgbClr val="184B3E"/>
                </a:solidFill>
                <a:latin typeface="Georgia"/>
                <a:ea typeface="Georgia"/>
                <a:cs typeface="Georgia"/>
              </a:defRPr>
            </a:pPr>
            <a:r>
              <a:rPr sz="3150" b="1">
                <a:solidFill>
                  <a:srgbClr val="184B3E"/>
                </a:solidFill>
                <a:latin typeface="Georgia"/>
                <a:ea typeface="Georgia"/>
                <a:cs typeface="Georgia"/>
              </a:rPr>
              <a:t>The next chapter of care.</a:t>
            </a:r>
          </a:p>
        </p:txBody>
      </p:sp>
      <p:sp>
        <p:nvSpPr>
          <p:cNvPr id="3" name="group-footer">
            <a:extLst>
              <a:ext uri="{FF2B5EF4-FFF2-40B4-BE49-F238E27FC236}">
                <a16:creationId xmlns:a16="http://schemas.microsoft.com/office/drawing/2014/main" xmlns="" id="{6E98969E-DCFB-4830-AA97-2D295E66251E}"/>
              </a:ext>
            </a:extLst>
          </p:cNvPr>
          <p:cNvSpPr>
            <a:spLocks noGrp="1"/>
          </p:cNvSpPr>
          <p:nvPr/>
        </p:nvSpPr>
        <p:spPr>
          <a:xfrm>
            <a:off x="552450" y="6553200"/>
            <a:ext cx="1714500" cy="152400"/>
          </a:xfrm>
          <a:prstGeom prst="rect">
            <a:avLst/>
          </a:prstGeom>
          <a:noFill/>
          <a:ln w="0">
            <a:noFill/>
          </a:ln>
        </p:spPr>
        <p:txBody>
          <a:bodyPr wrap="square" lIns="0" tIns="0" rIns="0" bIns="0" anchor="t">
            <a:noAutofit/>
          </a:bodyPr>
          <a:lstStyle/>
          <a:p>
            <a:pPr algn="l">
              <a:defRPr sz="750" b="1">
                <a:solidFill>
                  <a:srgbClr val="6D6560"/>
                </a:solidFill>
                <a:latin typeface="Arial"/>
                <a:ea typeface="Arial"/>
                <a:cs typeface="Arial"/>
              </a:defRPr>
            </a:pPr>
            <a:r>
              <a:rPr sz="750" b="1">
                <a:solidFill>
                  <a:srgbClr val="6D6560"/>
                </a:solidFill>
                <a:latin typeface="Arial"/>
                <a:ea typeface="Arial"/>
                <a:cs typeface="Arial"/>
              </a:rPr>
              <a:t>GROUP 62</a:t>
            </a:r>
          </a:p>
        </p:txBody>
      </p:sp>
      <p:sp>
        <p:nvSpPr>
          <p:cNvPr id="4" name="page-number">
            <a:extLst>
              <a:ext uri="{FF2B5EF4-FFF2-40B4-BE49-F238E27FC236}">
                <a16:creationId xmlns:a16="http://schemas.microsoft.com/office/drawing/2014/main" xmlns="" id="{DF754D78-9955-47CD-9332-8B366C8AEEB4}"/>
              </a:ext>
            </a:extLst>
          </p:cNvPr>
          <p:cNvSpPr>
            <a:spLocks noGrp="1"/>
          </p:cNvSpPr>
          <p:nvPr/>
        </p:nvSpPr>
        <p:spPr>
          <a:xfrm>
            <a:off x="11144250" y="6553200"/>
            <a:ext cx="495300" cy="152400"/>
          </a:xfrm>
          <a:prstGeom prst="rect">
            <a:avLst/>
          </a:prstGeom>
          <a:noFill/>
          <a:ln w="0">
            <a:noFill/>
          </a:ln>
        </p:spPr>
        <p:txBody>
          <a:bodyPr wrap="square" lIns="0" tIns="0" rIns="0" bIns="0" anchor="t">
            <a:noAutofit/>
          </a:bodyPr>
          <a:lstStyle/>
          <a:p>
            <a:pPr algn="r">
              <a:defRPr sz="750" b="1">
                <a:solidFill>
                  <a:srgbClr val="6D6560"/>
                </a:solidFill>
                <a:latin typeface="Arial"/>
                <a:ea typeface="Arial"/>
                <a:cs typeface="Arial"/>
              </a:defRPr>
            </a:pPr>
            <a:r>
              <a:rPr sz="750" b="1">
                <a:solidFill>
                  <a:srgbClr val="6D6560"/>
                </a:solidFill>
                <a:latin typeface="Arial"/>
                <a:ea typeface="Arial"/>
                <a:cs typeface="Arial"/>
              </a:rPr>
              <a:t>06</a:t>
            </a:r>
          </a:p>
        </p:txBody>
      </p:sp>
      <p:sp>
        <p:nvSpPr>
          <p:cNvPr id="5" name="future-intro">
            <a:extLst>
              <a:ext uri="{FF2B5EF4-FFF2-40B4-BE49-F238E27FC236}">
                <a16:creationId xmlns:a16="http://schemas.microsoft.com/office/drawing/2014/main" xmlns="" id="{6F8917D3-FD21-420B-9646-EF6652E7877B}"/>
              </a:ext>
            </a:extLst>
          </p:cNvPr>
          <p:cNvSpPr>
            <a:spLocks noGrp="1"/>
          </p:cNvSpPr>
          <p:nvPr/>
        </p:nvSpPr>
        <p:spPr>
          <a:xfrm>
            <a:off x="552450" y="1476375"/>
            <a:ext cx="11087100" cy="428625"/>
          </a:xfrm>
          <a:prstGeom prst="rect">
            <a:avLst/>
          </a:prstGeom>
          <a:noFill/>
          <a:ln w="0">
            <a:noFill/>
          </a:ln>
        </p:spPr>
        <p:txBody>
          <a:bodyPr wrap="square" lIns="0" tIns="0" rIns="0" bIns="0" anchor="t">
            <a:noAutofit/>
          </a:bodyPr>
          <a:lstStyle/>
          <a:p>
            <a:pPr algn="l">
              <a:defRPr sz="1575" b="0">
                <a:solidFill>
                  <a:srgbClr val="6D6560"/>
                </a:solidFill>
                <a:latin typeface="Arial"/>
                <a:ea typeface="Arial"/>
                <a:cs typeface="Arial"/>
              </a:defRPr>
            </a:pPr>
            <a:r>
              <a:rPr sz="1575" b="0">
                <a:solidFill>
                  <a:srgbClr val="6D6560"/>
                </a:solidFill>
                <a:latin typeface="Arial"/>
                <a:ea typeface="Arial"/>
                <a:cs typeface="Arial"/>
              </a:rPr>
              <a:t>Make the current experience deeper. Then make support easier to reach.</a:t>
            </a:r>
          </a:p>
        </p:txBody>
      </p:sp>
      <p:sp>
        <p:nvSpPr>
          <p:cNvPr id="6" name="immediate-panel">
            <a:extLst>
              <a:ext uri="{FF2B5EF4-FFF2-40B4-BE49-F238E27FC236}">
                <a16:creationId xmlns:a16="http://schemas.microsoft.com/office/drawing/2014/main" xmlns="" id="{D43254B6-2455-4C5D-B2BE-FF7B909ABAB2}"/>
              </a:ext>
            </a:extLst>
          </p:cNvPr>
          <p:cNvSpPr>
            <a:spLocks noGrp="1"/>
          </p:cNvSpPr>
          <p:nvPr/>
        </p:nvSpPr>
        <p:spPr>
          <a:xfrm>
            <a:off x="552450" y="2143125"/>
            <a:ext cx="5324475" cy="3943350"/>
          </a:xfrm>
          <a:prstGeom prst="roundRect">
            <a:avLst>
              <a:gd name="adj" fmla="val 1932"/>
            </a:avLst>
          </a:prstGeom>
          <a:solidFill>
            <a:srgbClr val="EDF1E8"/>
          </a:solidFill>
          <a:ln w="9525">
            <a:solidFill>
              <a:srgbClr val="DDD5CB"/>
            </a:solidFill>
          </a:ln>
        </p:spPr>
      </p:sp>
      <p:sp>
        <p:nvSpPr>
          <p:cNvPr id="7" name="future-panel">
            <a:extLst>
              <a:ext uri="{FF2B5EF4-FFF2-40B4-BE49-F238E27FC236}">
                <a16:creationId xmlns:a16="http://schemas.microsoft.com/office/drawing/2014/main" xmlns="" id="{38F1CD33-B644-4FDF-96C0-3DC22182A65C}"/>
              </a:ext>
            </a:extLst>
          </p:cNvPr>
          <p:cNvSpPr>
            <a:spLocks noGrp="1"/>
          </p:cNvSpPr>
          <p:nvPr/>
        </p:nvSpPr>
        <p:spPr>
          <a:xfrm>
            <a:off x="6105525" y="2143125"/>
            <a:ext cx="5534025" cy="3943350"/>
          </a:xfrm>
          <a:prstGeom prst="roundRect">
            <a:avLst>
              <a:gd name="adj" fmla="val 1932"/>
            </a:avLst>
          </a:prstGeom>
          <a:solidFill>
            <a:srgbClr val="F5EAE9"/>
          </a:solidFill>
          <a:ln w="9525">
            <a:solidFill>
              <a:srgbClr val="DDD5CB"/>
            </a:solidFill>
          </a:ln>
        </p:spPr>
      </p:sp>
      <p:sp>
        <p:nvSpPr>
          <p:cNvPr id="8" name="immediate-label">
            <a:extLst>
              <a:ext uri="{FF2B5EF4-FFF2-40B4-BE49-F238E27FC236}">
                <a16:creationId xmlns:a16="http://schemas.microsoft.com/office/drawing/2014/main" xmlns="" id="{72338D32-4678-4B6B-94B2-13A9951E7670}"/>
              </a:ext>
            </a:extLst>
          </p:cNvPr>
          <p:cNvSpPr>
            <a:spLocks noGrp="1"/>
          </p:cNvSpPr>
          <p:nvPr/>
        </p:nvSpPr>
        <p:spPr>
          <a:xfrm>
            <a:off x="819150" y="2400300"/>
            <a:ext cx="4762500" cy="228600"/>
          </a:xfrm>
          <a:prstGeom prst="rect">
            <a:avLst/>
          </a:prstGeom>
          <a:noFill/>
          <a:ln w="0">
            <a:noFill/>
          </a:ln>
        </p:spPr>
        <p:txBody>
          <a:bodyPr wrap="square" lIns="0" tIns="0" rIns="0" bIns="0" anchor="t">
            <a:noAutofit/>
          </a:bodyPr>
          <a:lstStyle/>
          <a:p>
            <a:pPr algn="l">
              <a:defRPr sz="1050" b="1">
                <a:solidFill>
                  <a:srgbClr val="7A2F52"/>
                </a:solidFill>
                <a:latin typeface="Arial"/>
                <a:ea typeface="Arial"/>
                <a:cs typeface="Arial"/>
              </a:defRPr>
            </a:pPr>
            <a:r>
              <a:rPr sz="1050" b="1">
                <a:solidFill>
                  <a:srgbClr val="7A2F52"/>
                </a:solidFill>
                <a:latin typeface="Arial"/>
                <a:ea typeface="Arial"/>
                <a:cs typeface="Arial"/>
              </a:rPr>
              <a:t>IMMEDIATE ACTIONS</a:t>
            </a:r>
          </a:p>
        </p:txBody>
      </p:sp>
      <p:sp>
        <p:nvSpPr>
          <p:cNvPr id="9" name="future-label">
            <a:extLst>
              <a:ext uri="{FF2B5EF4-FFF2-40B4-BE49-F238E27FC236}">
                <a16:creationId xmlns:a16="http://schemas.microsoft.com/office/drawing/2014/main" xmlns="" id="{26846699-354E-4ADC-9BD0-0FEB8861E081}"/>
              </a:ext>
            </a:extLst>
          </p:cNvPr>
          <p:cNvSpPr>
            <a:spLocks noGrp="1"/>
          </p:cNvSpPr>
          <p:nvPr/>
        </p:nvSpPr>
        <p:spPr>
          <a:xfrm>
            <a:off x="6372225" y="2400300"/>
            <a:ext cx="5000625" cy="228600"/>
          </a:xfrm>
          <a:prstGeom prst="rect">
            <a:avLst/>
          </a:prstGeom>
          <a:noFill/>
          <a:ln w="0">
            <a:noFill/>
          </a:ln>
        </p:spPr>
        <p:txBody>
          <a:bodyPr wrap="square" lIns="0" tIns="0" rIns="0" bIns="0" anchor="t">
            <a:noAutofit/>
          </a:bodyPr>
          <a:lstStyle/>
          <a:p>
            <a:pPr algn="l">
              <a:defRPr sz="1050" b="1">
                <a:solidFill>
                  <a:srgbClr val="7A2F52"/>
                </a:solidFill>
                <a:latin typeface="Arial"/>
                <a:ea typeface="Arial"/>
                <a:cs typeface="Arial"/>
              </a:defRPr>
            </a:pPr>
            <a:r>
              <a:rPr sz="1050" b="1">
                <a:solidFill>
                  <a:srgbClr val="7A2F52"/>
                </a:solidFill>
                <a:latin typeface="Arial"/>
                <a:ea typeface="Arial"/>
                <a:cs typeface="Arial"/>
              </a:rPr>
              <a:t>FUTURE SCOPE</a:t>
            </a:r>
          </a:p>
        </p:txBody>
      </p:sp>
      <p:sp>
        <p:nvSpPr>
          <p:cNvPr id="10" name="roadmap-0-0-title">
            <a:extLst>
              <a:ext uri="{FF2B5EF4-FFF2-40B4-BE49-F238E27FC236}">
                <a16:creationId xmlns:a16="http://schemas.microsoft.com/office/drawing/2014/main" xmlns="" id="{CCBD723B-49FA-498C-9B82-A225356D6074}"/>
              </a:ext>
            </a:extLst>
          </p:cNvPr>
          <p:cNvSpPr>
            <a:spLocks noGrp="1"/>
          </p:cNvSpPr>
          <p:nvPr/>
        </p:nvSpPr>
        <p:spPr>
          <a:xfrm>
            <a:off x="819150" y="2905125"/>
            <a:ext cx="4762500" cy="304800"/>
          </a:xfrm>
          <a:prstGeom prst="rect">
            <a:avLst/>
          </a:prstGeom>
          <a:noFill/>
          <a:ln w="0">
            <a:noFill/>
          </a:ln>
        </p:spPr>
        <p:txBody>
          <a:bodyPr wrap="square" lIns="0" tIns="0" rIns="0" bIns="0" anchor="t">
            <a:noAutofit/>
          </a:bodyPr>
          <a:lstStyle/>
          <a:p>
            <a:pPr algn="l">
              <a:defRPr sz="1725" b="1">
                <a:solidFill>
                  <a:srgbClr val="184B3E"/>
                </a:solidFill>
                <a:latin typeface="Georgia"/>
                <a:ea typeface="Georgia"/>
                <a:cs typeface="Georgia"/>
              </a:defRPr>
            </a:pPr>
            <a:r>
              <a:rPr sz="1725" b="1">
                <a:solidFill>
                  <a:srgbClr val="184B3E"/>
                </a:solidFill>
                <a:latin typeface="Georgia"/>
                <a:ea typeface="Georgia"/>
                <a:cs typeface="Georgia"/>
              </a:rPr>
              <a:t>Deepen answer quality</a:t>
            </a:r>
          </a:p>
        </p:txBody>
      </p:sp>
      <p:sp>
        <p:nvSpPr>
          <p:cNvPr id="11" name="roadmap-0-0-body">
            <a:extLst>
              <a:ext uri="{FF2B5EF4-FFF2-40B4-BE49-F238E27FC236}">
                <a16:creationId xmlns:a16="http://schemas.microsoft.com/office/drawing/2014/main" xmlns="" id="{888B1505-3230-4E3F-B1B7-CDBCF0F57754}"/>
              </a:ext>
            </a:extLst>
          </p:cNvPr>
          <p:cNvSpPr>
            <a:spLocks noGrp="1"/>
          </p:cNvSpPr>
          <p:nvPr/>
        </p:nvSpPr>
        <p:spPr>
          <a:xfrm>
            <a:off x="819150" y="3257550"/>
            <a:ext cx="4762500" cy="571500"/>
          </a:xfrm>
          <a:prstGeom prst="rect">
            <a:avLst/>
          </a:prstGeom>
          <a:noFill/>
          <a:ln w="0">
            <a:noFill/>
          </a:ln>
        </p:spPr>
        <p:txBody>
          <a:bodyPr wrap="square" lIns="0" tIns="0" rIns="0" bIns="0" anchor="t">
            <a:noAutofit/>
          </a:bodyPr>
          <a:lstStyle/>
          <a:p>
            <a:pPr algn="l">
              <a:defRPr sz="1350" b="0">
                <a:solidFill>
                  <a:srgbClr val="25211F"/>
                </a:solidFill>
                <a:latin typeface="Arial"/>
                <a:ea typeface="Arial"/>
                <a:cs typeface="Arial"/>
              </a:defRPr>
            </a:pPr>
            <a:r>
              <a:rPr sz="1350" b="0">
                <a:solidFill>
                  <a:srgbClr val="25211F"/>
                </a:solidFill>
                <a:latin typeface="Arial"/>
                <a:ea typeface="Arial"/>
                <a:cs typeface="Arial"/>
              </a:rPr>
              <a:t>Expand evidence coverage, specific meal options</a:t>
            </a:r>
          </a:p>
          <a:p>
            <a:pPr algn="l">
              <a:defRPr sz="1350" b="0">
                <a:solidFill>
                  <a:srgbClr val="25211F"/>
                </a:solidFill>
                <a:latin typeface="Arial"/>
                <a:ea typeface="Arial"/>
                <a:cs typeface="Arial"/>
              </a:defRPr>
            </a:pPr>
            <a:r>
              <a:rPr sz="1350" b="0">
                <a:solidFill>
                  <a:srgbClr val="25211F"/>
                </a:solidFill>
                <a:latin typeface="Arial"/>
                <a:ea typeface="Arial"/>
                <a:cs typeface="Arial"/>
              </a:rPr>
              <a:t>and real-question evaluation.</a:t>
            </a:r>
          </a:p>
        </p:txBody>
      </p:sp>
      <p:sp>
        <p:nvSpPr>
          <p:cNvPr id="12" name="roadmap-0-1-title">
            <a:extLst>
              <a:ext uri="{FF2B5EF4-FFF2-40B4-BE49-F238E27FC236}">
                <a16:creationId xmlns:a16="http://schemas.microsoft.com/office/drawing/2014/main" xmlns="" id="{C1020886-4553-416A-A2EF-621C6E5F557B}"/>
              </a:ext>
            </a:extLst>
          </p:cNvPr>
          <p:cNvSpPr>
            <a:spLocks noGrp="1"/>
          </p:cNvSpPr>
          <p:nvPr/>
        </p:nvSpPr>
        <p:spPr>
          <a:xfrm>
            <a:off x="819150" y="3886200"/>
            <a:ext cx="4762500" cy="304800"/>
          </a:xfrm>
          <a:prstGeom prst="rect">
            <a:avLst/>
          </a:prstGeom>
          <a:noFill/>
          <a:ln w="0">
            <a:noFill/>
          </a:ln>
        </p:spPr>
        <p:txBody>
          <a:bodyPr wrap="square" lIns="0" tIns="0" rIns="0" bIns="0" anchor="t">
            <a:noAutofit/>
          </a:bodyPr>
          <a:lstStyle/>
          <a:p>
            <a:pPr algn="l">
              <a:defRPr sz="1725" b="1">
                <a:solidFill>
                  <a:srgbClr val="184B3E"/>
                </a:solidFill>
                <a:latin typeface="Georgia"/>
                <a:ea typeface="Georgia"/>
                <a:cs typeface="Georgia"/>
              </a:defRPr>
            </a:pPr>
            <a:r>
              <a:rPr sz="1725" b="1">
                <a:solidFill>
                  <a:srgbClr val="184B3E"/>
                </a:solidFill>
                <a:latin typeface="Georgia"/>
                <a:ea typeface="Georgia"/>
                <a:cs typeface="Georgia"/>
              </a:rPr>
              <a:t>Bring a human into the loop</a:t>
            </a:r>
          </a:p>
        </p:txBody>
      </p:sp>
      <p:sp>
        <p:nvSpPr>
          <p:cNvPr id="13" name="roadmap-0-1-body">
            <a:extLst>
              <a:ext uri="{FF2B5EF4-FFF2-40B4-BE49-F238E27FC236}">
                <a16:creationId xmlns:a16="http://schemas.microsoft.com/office/drawing/2014/main" xmlns="" id="{AC74E511-522A-4BD3-89F8-7D1CFEEFCC5F}"/>
              </a:ext>
            </a:extLst>
          </p:cNvPr>
          <p:cNvSpPr>
            <a:spLocks noGrp="1"/>
          </p:cNvSpPr>
          <p:nvPr/>
        </p:nvSpPr>
        <p:spPr>
          <a:xfrm>
            <a:off x="819150" y="4238625"/>
            <a:ext cx="4762500" cy="571500"/>
          </a:xfrm>
          <a:prstGeom prst="rect">
            <a:avLst/>
          </a:prstGeom>
          <a:noFill/>
          <a:ln w="0">
            <a:noFill/>
          </a:ln>
        </p:spPr>
        <p:txBody>
          <a:bodyPr wrap="square" lIns="0" tIns="0" rIns="0" bIns="0" anchor="t">
            <a:noAutofit/>
          </a:bodyPr>
          <a:lstStyle/>
          <a:p>
            <a:pPr algn="l">
              <a:defRPr sz="1350" b="0">
                <a:solidFill>
                  <a:srgbClr val="25211F"/>
                </a:solidFill>
                <a:latin typeface="Arial"/>
                <a:ea typeface="Arial"/>
                <a:cs typeface="Arial"/>
              </a:defRPr>
            </a:pPr>
            <a:r>
              <a:rPr sz="1350" b="0">
                <a:solidFill>
                  <a:srgbClr val="25211F"/>
                </a:solidFill>
                <a:latin typeface="Arial"/>
                <a:ea typeface="Arial"/>
                <a:cs typeface="Arial"/>
              </a:rPr>
              <a:t>A consent-based clinician handoff, with urgent</a:t>
            </a:r>
          </a:p>
          <a:p>
            <a:pPr algn="l">
              <a:defRPr sz="1350" b="0">
                <a:solidFill>
                  <a:srgbClr val="25211F"/>
                </a:solidFill>
                <a:latin typeface="Arial"/>
                <a:ea typeface="Arial"/>
                <a:cs typeface="Arial"/>
              </a:defRPr>
            </a:pPr>
            <a:r>
              <a:rPr sz="1350" b="0">
                <a:solidFill>
                  <a:srgbClr val="25211F"/>
                </a:solidFill>
                <a:latin typeface="Arial"/>
                <a:ea typeface="Arial"/>
                <a:cs typeface="Arial"/>
              </a:rPr>
              <a:t>help that never waits for a review queue.</a:t>
            </a:r>
          </a:p>
        </p:txBody>
      </p:sp>
      <p:sp>
        <p:nvSpPr>
          <p:cNvPr id="14" name="roadmap-0-2-title">
            <a:extLst>
              <a:ext uri="{FF2B5EF4-FFF2-40B4-BE49-F238E27FC236}">
                <a16:creationId xmlns:a16="http://schemas.microsoft.com/office/drawing/2014/main" xmlns="" id="{257FCD6C-803B-4006-80DC-4DB4ABC561AD}"/>
              </a:ext>
            </a:extLst>
          </p:cNvPr>
          <p:cNvSpPr>
            <a:spLocks noGrp="1"/>
          </p:cNvSpPr>
          <p:nvPr/>
        </p:nvSpPr>
        <p:spPr>
          <a:xfrm>
            <a:off x="819150" y="4867275"/>
            <a:ext cx="4762500" cy="304800"/>
          </a:xfrm>
          <a:prstGeom prst="rect">
            <a:avLst/>
          </a:prstGeom>
          <a:noFill/>
          <a:ln w="0">
            <a:noFill/>
          </a:ln>
        </p:spPr>
        <p:txBody>
          <a:bodyPr wrap="square" lIns="0" tIns="0" rIns="0" bIns="0" anchor="t">
            <a:noAutofit/>
          </a:bodyPr>
          <a:lstStyle/>
          <a:p>
            <a:pPr algn="l">
              <a:defRPr sz="1725" b="1">
                <a:solidFill>
                  <a:srgbClr val="184B3E"/>
                </a:solidFill>
                <a:latin typeface="Georgia"/>
                <a:ea typeface="Georgia"/>
                <a:cs typeface="Georgia"/>
              </a:defRPr>
            </a:pPr>
            <a:r>
              <a:rPr sz="1725" b="1">
                <a:solidFill>
                  <a:srgbClr val="184B3E"/>
                </a:solidFill>
                <a:latin typeface="Georgia"/>
                <a:ea typeface="Georgia"/>
                <a:cs typeface="Georgia"/>
              </a:rPr>
              <a:t>Add secure document intake</a:t>
            </a:r>
          </a:p>
        </p:txBody>
      </p:sp>
      <p:sp>
        <p:nvSpPr>
          <p:cNvPr id="15" name="roadmap-0-2-body">
            <a:extLst>
              <a:ext uri="{FF2B5EF4-FFF2-40B4-BE49-F238E27FC236}">
                <a16:creationId xmlns:a16="http://schemas.microsoft.com/office/drawing/2014/main" xmlns="" id="{B411BB8D-2D26-4A10-BD7D-C1FF7400EBC8}"/>
              </a:ext>
            </a:extLst>
          </p:cNvPr>
          <p:cNvSpPr>
            <a:spLocks noGrp="1"/>
          </p:cNvSpPr>
          <p:nvPr/>
        </p:nvSpPr>
        <p:spPr>
          <a:xfrm>
            <a:off x="819150" y="5219700"/>
            <a:ext cx="4762500" cy="571500"/>
          </a:xfrm>
          <a:prstGeom prst="rect">
            <a:avLst/>
          </a:prstGeom>
          <a:noFill/>
          <a:ln w="0">
            <a:noFill/>
          </a:ln>
        </p:spPr>
        <p:txBody>
          <a:bodyPr wrap="square" lIns="0" tIns="0" rIns="0" bIns="0" anchor="t">
            <a:noAutofit/>
          </a:bodyPr>
          <a:lstStyle/>
          <a:p>
            <a:pPr algn="l">
              <a:defRPr sz="1350" b="0">
                <a:solidFill>
                  <a:srgbClr val="25211F"/>
                </a:solidFill>
                <a:latin typeface="Arial"/>
                <a:ea typeface="Arial"/>
                <a:cs typeface="Arial"/>
              </a:defRPr>
            </a:pPr>
            <a:r>
              <a:rPr sz="1350" b="0">
                <a:solidFill>
                  <a:srgbClr val="25211F"/>
                </a:solidFill>
                <a:latin typeface="Arial"/>
                <a:ea typeface="Arial"/>
                <a:cs typeface="Arial"/>
              </a:rPr>
              <a:t>Extract prescriptions and appointment details;</a:t>
            </a:r>
          </a:p>
          <a:p>
            <a:pPr algn="l">
              <a:defRPr sz="1350" b="0">
                <a:solidFill>
                  <a:srgbClr val="25211F"/>
                </a:solidFill>
                <a:latin typeface="Arial"/>
                <a:ea typeface="Arial"/>
                <a:cs typeface="Arial"/>
              </a:defRPr>
            </a:pPr>
            <a:r>
              <a:rPr sz="1350" b="0">
                <a:solidFill>
                  <a:srgbClr val="25211F"/>
                </a:solidFill>
                <a:latin typeface="Arial"/>
                <a:ea typeface="Arial"/>
                <a:cs typeface="Arial"/>
              </a:rPr>
              <a:t>confirm facts before personalising guidance.</a:t>
            </a:r>
          </a:p>
        </p:txBody>
      </p:sp>
      <p:sp>
        <p:nvSpPr>
          <p:cNvPr id="16" name="roadmap-1-0-title">
            <a:extLst>
              <a:ext uri="{FF2B5EF4-FFF2-40B4-BE49-F238E27FC236}">
                <a16:creationId xmlns:a16="http://schemas.microsoft.com/office/drawing/2014/main" xmlns="" id="{D16141CE-381B-4291-8928-620650E1EE1A}"/>
              </a:ext>
            </a:extLst>
          </p:cNvPr>
          <p:cNvSpPr>
            <a:spLocks noGrp="1"/>
          </p:cNvSpPr>
          <p:nvPr/>
        </p:nvSpPr>
        <p:spPr>
          <a:xfrm>
            <a:off x="6372225" y="2905125"/>
            <a:ext cx="4762500" cy="304800"/>
          </a:xfrm>
          <a:prstGeom prst="rect">
            <a:avLst/>
          </a:prstGeom>
          <a:noFill/>
          <a:ln w="0">
            <a:noFill/>
          </a:ln>
        </p:spPr>
        <p:txBody>
          <a:bodyPr wrap="square" lIns="0" tIns="0" rIns="0" bIns="0" anchor="t">
            <a:noAutofit/>
          </a:bodyPr>
          <a:lstStyle/>
          <a:p>
            <a:pPr algn="l">
              <a:defRPr sz="1725" b="1">
                <a:solidFill>
                  <a:srgbClr val="184B3E"/>
                </a:solidFill>
                <a:latin typeface="Georgia"/>
                <a:ea typeface="Georgia"/>
                <a:cs typeface="Georgia"/>
              </a:defRPr>
            </a:pPr>
            <a:r>
              <a:rPr sz="1725" b="1">
                <a:solidFill>
                  <a:srgbClr val="184B3E"/>
                </a:solidFill>
                <a:latin typeface="Georgia"/>
                <a:ea typeface="Georgia"/>
                <a:cs typeface="Georgia"/>
              </a:rPr>
              <a:t>A WhatsApp companion</a:t>
            </a:r>
          </a:p>
        </p:txBody>
      </p:sp>
      <p:sp>
        <p:nvSpPr>
          <p:cNvPr id="17" name="roadmap-1-0-body">
            <a:extLst>
              <a:ext uri="{FF2B5EF4-FFF2-40B4-BE49-F238E27FC236}">
                <a16:creationId xmlns:a16="http://schemas.microsoft.com/office/drawing/2014/main" xmlns="" id="{B2BD3A2D-9C33-4920-988D-52D4B9903390}"/>
              </a:ext>
            </a:extLst>
          </p:cNvPr>
          <p:cNvSpPr>
            <a:spLocks noGrp="1"/>
          </p:cNvSpPr>
          <p:nvPr/>
        </p:nvSpPr>
        <p:spPr>
          <a:xfrm>
            <a:off x="6372225" y="3257550"/>
            <a:ext cx="4762500" cy="571500"/>
          </a:xfrm>
          <a:prstGeom prst="rect">
            <a:avLst/>
          </a:prstGeom>
          <a:noFill/>
          <a:ln w="0">
            <a:noFill/>
          </a:ln>
        </p:spPr>
        <p:txBody>
          <a:bodyPr wrap="square" lIns="0" tIns="0" rIns="0" bIns="0" anchor="t">
            <a:noAutofit/>
          </a:bodyPr>
          <a:lstStyle/>
          <a:p>
            <a:pPr algn="l">
              <a:defRPr sz="1350" b="0">
                <a:solidFill>
                  <a:srgbClr val="25211F"/>
                </a:solidFill>
                <a:latin typeface="Arial"/>
                <a:ea typeface="Arial"/>
                <a:cs typeface="Arial"/>
              </a:defRPr>
            </a:pPr>
            <a:r>
              <a:rPr sz="1350" b="0">
                <a:solidFill>
                  <a:srgbClr val="25211F"/>
                </a:solidFill>
                <a:latin typeface="Arial"/>
                <a:ea typeface="Arial"/>
                <a:cs typeface="Arial"/>
              </a:rPr>
              <a:t>Bring the same context-aware support into</a:t>
            </a:r>
          </a:p>
          <a:p>
            <a:pPr algn="l">
              <a:defRPr sz="1350" b="0">
                <a:solidFill>
                  <a:srgbClr val="25211F"/>
                </a:solidFill>
                <a:latin typeface="Arial"/>
                <a:ea typeface="Arial"/>
                <a:cs typeface="Arial"/>
              </a:defRPr>
            </a:pPr>
            <a:r>
              <a:rPr sz="1350" b="0">
                <a:solidFill>
                  <a:srgbClr val="25211F"/>
                </a:solidFill>
                <a:latin typeface="Arial"/>
                <a:ea typeface="Arial"/>
                <a:cs typeface="Arial"/>
              </a:rPr>
              <a:t>a familiar, opt-in conversation.</a:t>
            </a:r>
          </a:p>
        </p:txBody>
      </p:sp>
      <p:sp>
        <p:nvSpPr>
          <p:cNvPr id="18" name="roadmap-1-1-title">
            <a:extLst>
              <a:ext uri="{FF2B5EF4-FFF2-40B4-BE49-F238E27FC236}">
                <a16:creationId xmlns:a16="http://schemas.microsoft.com/office/drawing/2014/main" xmlns="" id="{660E7FE4-C434-4B21-8534-EB2AD64257D2}"/>
              </a:ext>
            </a:extLst>
          </p:cNvPr>
          <p:cNvSpPr>
            <a:spLocks noGrp="1"/>
          </p:cNvSpPr>
          <p:nvPr/>
        </p:nvSpPr>
        <p:spPr>
          <a:xfrm>
            <a:off x="6372225" y="3886200"/>
            <a:ext cx="4762500" cy="304800"/>
          </a:xfrm>
          <a:prstGeom prst="rect">
            <a:avLst/>
          </a:prstGeom>
          <a:noFill/>
          <a:ln w="0">
            <a:noFill/>
          </a:ln>
        </p:spPr>
        <p:txBody>
          <a:bodyPr wrap="square" lIns="0" tIns="0" rIns="0" bIns="0" anchor="t">
            <a:noAutofit/>
          </a:bodyPr>
          <a:lstStyle/>
          <a:p>
            <a:pPr algn="l">
              <a:defRPr sz="1725" b="1">
                <a:solidFill>
                  <a:srgbClr val="184B3E"/>
                </a:solidFill>
                <a:latin typeface="Georgia"/>
                <a:ea typeface="Georgia"/>
                <a:cs typeface="Georgia"/>
              </a:defRPr>
            </a:pPr>
            <a:r>
              <a:rPr sz="1725" b="1">
                <a:solidFill>
                  <a:srgbClr val="184B3E"/>
                </a:solidFill>
                <a:latin typeface="Georgia"/>
                <a:ea typeface="Georgia"/>
                <a:cs typeface="Georgia"/>
              </a:rPr>
              <a:t>More languages and voice</a:t>
            </a:r>
          </a:p>
        </p:txBody>
      </p:sp>
      <p:sp>
        <p:nvSpPr>
          <p:cNvPr id="19" name="roadmap-1-1-body">
            <a:extLst>
              <a:ext uri="{FF2B5EF4-FFF2-40B4-BE49-F238E27FC236}">
                <a16:creationId xmlns:a16="http://schemas.microsoft.com/office/drawing/2014/main" xmlns="" id="{5FC907FC-019C-4773-812F-73080D5844B6}"/>
              </a:ext>
            </a:extLst>
          </p:cNvPr>
          <p:cNvSpPr>
            <a:spLocks noGrp="1"/>
          </p:cNvSpPr>
          <p:nvPr/>
        </p:nvSpPr>
        <p:spPr>
          <a:xfrm>
            <a:off x="6372225" y="4238625"/>
            <a:ext cx="4762500" cy="571500"/>
          </a:xfrm>
          <a:prstGeom prst="rect">
            <a:avLst/>
          </a:prstGeom>
          <a:noFill/>
          <a:ln w="0">
            <a:noFill/>
          </a:ln>
        </p:spPr>
        <p:txBody>
          <a:bodyPr wrap="square" lIns="0" tIns="0" rIns="0" bIns="0" anchor="t">
            <a:noAutofit/>
          </a:bodyPr>
          <a:lstStyle/>
          <a:p>
            <a:pPr algn="l">
              <a:defRPr sz="1350" b="0">
                <a:solidFill>
                  <a:srgbClr val="25211F"/>
                </a:solidFill>
                <a:latin typeface="Arial"/>
                <a:ea typeface="Arial"/>
                <a:cs typeface="Arial"/>
              </a:defRPr>
            </a:pPr>
            <a:r>
              <a:rPr sz="1350" b="0">
                <a:solidFill>
                  <a:srgbClr val="25211F"/>
                </a:solidFill>
                <a:latin typeface="Arial"/>
                <a:ea typeface="Arial"/>
                <a:cs typeface="Arial"/>
              </a:rPr>
              <a:t>Make guidance easier to access across</a:t>
            </a:r>
          </a:p>
          <a:p>
            <a:pPr algn="l">
              <a:defRPr sz="1350" b="0">
                <a:solidFill>
                  <a:srgbClr val="25211F"/>
                </a:solidFill>
                <a:latin typeface="Arial"/>
                <a:ea typeface="Arial"/>
                <a:cs typeface="Arial"/>
              </a:defRPr>
            </a:pPr>
            <a:r>
              <a:rPr sz="1350" b="0">
                <a:solidFill>
                  <a:srgbClr val="25211F"/>
                </a:solidFill>
                <a:latin typeface="Arial"/>
                <a:ea typeface="Arial"/>
                <a:cs typeface="Arial"/>
              </a:rPr>
              <a:t>languages, literacy and connectivity needs.</a:t>
            </a:r>
          </a:p>
        </p:txBody>
      </p:sp>
      <p:sp>
        <p:nvSpPr>
          <p:cNvPr id="20" name="roadmap-1-2-title">
            <a:extLst>
              <a:ext uri="{FF2B5EF4-FFF2-40B4-BE49-F238E27FC236}">
                <a16:creationId xmlns:a16="http://schemas.microsoft.com/office/drawing/2014/main" xmlns="" id="{5747CBDC-AAD3-4DFF-B460-2A90A05CB8E0}"/>
              </a:ext>
            </a:extLst>
          </p:cNvPr>
          <p:cNvSpPr>
            <a:spLocks noGrp="1"/>
          </p:cNvSpPr>
          <p:nvPr/>
        </p:nvSpPr>
        <p:spPr>
          <a:xfrm>
            <a:off x="6372225" y="4867275"/>
            <a:ext cx="4762500" cy="304800"/>
          </a:xfrm>
          <a:prstGeom prst="rect">
            <a:avLst/>
          </a:prstGeom>
          <a:noFill/>
          <a:ln w="0">
            <a:noFill/>
          </a:ln>
        </p:spPr>
        <p:txBody>
          <a:bodyPr wrap="square" lIns="0" tIns="0" rIns="0" bIns="0" anchor="t">
            <a:noAutofit/>
          </a:bodyPr>
          <a:lstStyle/>
          <a:p>
            <a:pPr algn="l">
              <a:defRPr sz="1725" b="1">
                <a:solidFill>
                  <a:srgbClr val="184B3E"/>
                </a:solidFill>
                <a:latin typeface="Georgia"/>
                <a:ea typeface="Georgia"/>
                <a:cs typeface="Georgia"/>
              </a:defRPr>
            </a:pPr>
            <a:r>
              <a:rPr sz="1725" b="1">
                <a:solidFill>
                  <a:srgbClr val="184B3E"/>
                </a:solidFill>
                <a:latin typeface="Georgia"/>
                <a:ea typeface="Georgia"/>
                <a:cs typeface="Georgia"/>
              </a:rPr>
              <a:t>Broader maternal support</a:t>
            </a:r>
          </a:p>
        </p:txBody>
      </p:sp>
      <p:sp>
        <p:nvSpPr>
          <p:cNvPr id="21" name="roadmap-1-2-body">
            <a:extLst>
              <a:ext uri="{FF2B5EF4-FFF2-40B4-BE49-F238E27FC236}">
                <a16:creationId xmlns:a16="http://schemas.microsoft.com/office/drawing/2014/main" xmlns="" id="{83F87373-CAEA-4C12-9AA2-F5EA32DEA927}"/>
              </a:ext>
            </a:extLst>
          </p:cNvPr>
          <p:cNvSpPr>
            <a:spLocks noGrp="1"/>
          </p:cNvSpPr>
          <p:nvPr/>
        </p:nvSpPr>
        <p:spPr>
          <a:xfrm>
            <a:off x="6372225" y="5219700"/>
            <a:ext cx="4762500" cy="571500"/>
          </a:xfrm>
          <a:prstGeom prst="rect">
            <a:avLst/>
          </a:prstGeom>
          <a:noFill/>
          <a:ln w="0">
            <a:noFill/>
          </a:ln>
        </p:spPr>
        <p:txBody>
          <a:bodyPr wrap="square" lIns="0" tIns="0" rIns="0" bIns="0" anchor="t">
            <a:noAutofit/>
          </a:bodyPr>
          <a:lstStyle/>
          <a:p>
            <a:pPr algn="l">
              <a:defRPr sz="1350" b="0">
                <a:solidFill>
                  <a:srgbClr val="25211F"/>
                </a:solidFill>
                <a:latin typeface="Arial"/>
                <a:ea typeface="Arial"/>
                <a:cs typeface="Arial"/>
              </a:defRPr>
            </a:pPr>
            <a:r>
              <a:rPr sz="1350" b="0">
                <a:solidFill>
                  <a:srgbClr val="25211F"/>
                </a:solidFill>
                <a:latin typeface="Arial"/>
                <a:ea typeface="Arial"/>
                <a:cs typeface="Arial"/>
              </a:rPr>
              <a:t>Extend postpartum and recovery coverage</a:t>
            </a:r>
          </a:p>
          <a:p>
            <a:pPr algn="l">
              <a:defRPr sz="1350" b="0">
                <a:solidFill>
                  <a:srgbClr val="25211F"/>
                </a:solidFill>
                <a:latin typeface="Arial"/>
                <a:ea typeface="Arial"/>
                <a:cs typeface="Arial"/>
              </a:defRPr>
            </a:pPr>
            <a:r>
              <a:rPr sz="1350" b="0">
                <a:solidFill>
                  <a:srgbClr val="25211F"/>
                </a:solidFill>
                <a:latin typeface="Arial"/>
                <a:ea typeface="Arial"/>
                <a:cs typeface="Arial"/>
              </a:rPr>
              <a:t>through clinical review and user pilots.</a:t>
            </a:r>
          </a:p>
        </p:txBody>
      </p:sp>
      <p:sp>
        <p:nvSpPr>
          <p:cNvPr id="22" name="future-status">
            <a:extLst>
              <a:ext uri="{FF2B5EF4-FFF2-40B4-BE49-F238E27FC236}">
                <a16:creationId xmlns:a16="http://schemas.microsoft.com/office/drawing/2014/main" xmlns="" id="{3D3FBDD5-45CF-490A-832C-9583430C0912}"/>
              </a:ext>
            </a:extLst>
          </p:cNvPr>
          <p:cNvSpPr>
            <a:spLocks noGrp="1"/>
          </p:cNvSpPr>
          <p:nvPr/>
        </p:nvSpPr>
        <p:spPr>
          <a:xfrm>
            <a:off x="552450" y="6229350"/>
            <a:ext cx="11087100" cy="228600"/>
          </a:xfrm>
          <a:prstGeom prst="rect">
            <a:avLst/>
          </a:prstGeom>
          <a:noFill/>
          <a:ln w="0">
            <a:noFill/>
          </a:ln>
        </p:spPr>
        <p:txBody>
          <a:bodyPr wrap="square" lIns="0" tIns="0" rIns="0" bIns="0" anchor="t">
            <a:noAutofit/>
          </a:bodyPr>
          <a:lstStyle/>
          <a:p>
            <a:pPr algn="l">
              <a:defRPr sz="1125" b="0">
                <a:solidFill>
                  <a:srgbClr val="6D6560"/>
                </a:solidFill>
                <a:latin typeface="Arial"/>
                <a:ea typeface="Arial"/>
                <a:cs typeface="Arial"/>
              </a:defRPr>
            </a:pPr>
            <a:r>
              <a:rPr sz="1125" b="0">
                <a:solidFill>
                  <a:srgbClr val="6D6560"/>
                </a:solidFill>
                <a:latin typeface="Arial"/>
                <a:ea typeface="Arial"/>
                <a:cs typeface="Arial"/>
              </a:rPr>
              <a:t>Planned capabilities · clinical review, privacy safeguards and real-world evaluation guide each release.</a:t>
            </a:r>
          </a:p>
        </p:txBody>
      </p:sp>
    </p:spTree>
    <p:extLst>
      <p:ext uri="{BB962C8B-B14F-4D97-AF65-F5344CB8AC3E}">
        <p14:creationId xmlns:p14="http://schemas.microsoft.com/office/powerpoint/2010/main" xmlns="" val="14729867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9F4"/>
        </a:solidFill>
        <a:effectLst/>
      </p:bgPr>
    </p:bg>
    <p:spTree>
      <p:nvGrpSpPr>
        <p:cNvPr id="1" name=""/>
        <p:cNvGrpSpPr/>
        <p:nvPr/>
      </p:nvGrpSpPr>
      <p:grpSpPr>
        <a:xfrm>
          <a:off x="0" y="0"/>
          <a:ext cx="0" cy="0"/>
          <a:chOff x="0" y="0"/>
          <a:chExt cx="0" cy="0"/>
        </a:xfrm>
      </p:grpSpPr>
      <p:sp>
        <p:nvSpPr>
          <p:cNvPr id="3" name="thank-you">
            <a:extLst>
              <a:ext uri="{FF2B5EF4-FFF2-40B4-BE49-F238E27FC236}">
                <a16:creationId xmlns:a16="http://schemas.microsoft.com/office/drawing/2014/main" xmlns="" id="{981C4FBD-1CBB-41B8-8BAE-1F7C1442F0B5}"/>
              </a:ext>
            </a:extLst>
          </p:cNvPr>
          <p:cNvSpPr>
            <a:spLocks noGrp="1"/>
          </p:cNvSpPr>
          <p:nvPr/>
        </p:nvSpPr>
        <p:spPr>
          <a:xfrm>
            <a:off x="1428750" y="2419350"/>
            <a:ext cx="9334500" cy="1066800"/>
          </a:xfrm>
          <a:prstGeom prst="rect">
            <a:avLst/>
          </a:prstGeom>
          <a:noFill/>
          <a:ln w="0">
            <a:noFill/>
          </a:ln>
        </p:spPr>
        <p:txBody>
          <a:bodyPr wrap="square" lIns="0" tIns="0" rIns="0" bIns="0" anchor="t">
            <a:noAutofit/>
          </a:bodyPr>
          <a:lstStyle/>
          <a:p>
            <a:pPr algn="ctr">
              <a:defRPr sz="5700" b="1">
                <a:solidFill>
                  <a:srgbClr val="184B3E"/>
                </a:solidFill>
                <a:latin typeface="Georgia"/>
                <a:ea typeface="Georgia"/>
                <a:cs typeface="Georgia"/>
              </a:defRPr>
            </a:pPr>
            <a:r>
              <a:rPr sz="5700" b="1">
                <a:solidFill>
                  <a:srgbClr val="184B3E"/>
                </a:solidFill>
                <a:latin typeface="Georgia"/>
                <a:ea typeface="Georgia"/>
                <a:cs typeface="Georgia"/>
              </a:rPr>
              <a:t>Thank you</a:t>
            </a:r>
          </a:p>
        </p:txBody>
      </p:sp>
      <p:sp>
        <p:nvSpPr>
          <p:cNvPr id="2" name="group">
            <a:extLst>
              <a:ext uri="{FF2B5EF4-FFF2-40B4-BE49-F238E27FC236}">
                <a16:creationId xmlns:a16="http://schemas.microsoft.com/office/drawing/2014/main" xmlns="" id="{E414AA6D-2653-4468-AF67-D3AE8D71D9A2}"/>
              </a:ext>
            </a:extLst>
          </p:cNvPr>
          <p:cNvSpPr>
            <a:spLocks noGrp="1"/>
          </p:cNvSpPr>
          <p:nvPr/>
        </p:nvSpPr>
        <p:spPr>
          <a:xfrm>
            <a:off x="1428750" y="3686175"/>
            <a:ext cx="9334500" cy="447675"/>
          </a:xfrm>
          <a:prstGeom prst="rect">
            <a:avLst/>
          </a:prstGeom>
          <a:noFill/>
          <a:ln w="0">
            <a:noFill/>
          </a:ln>
        </p:spPr>
        <p:txBody>
          <a:bodyPr wrap="square" lIns="0" tIns="0" rIns="0" bIns="0" anchor="t">
            <a:noAutofit/>
          </a:bodyPr>
          <a:lstStyle/>
          <a:p>
            <a:pPr algn="ctr">
              <a:defRPr sz="1950" b="0">
                <a:solidFill>
                  <a:srgbClr val="7A2F52"/>
                </a:solidFill>
                <a:latin typeface="Arial"/>
                <a:ea typeface="Arial"/>
                <a:cs typeface="Arial"/>
              </a:defRPr>
            </a:pPr>
            <a:r>
              <a:rPr sz="1950" b="0">
                <a:solidFill>
                  <a:srgbClr val="7A2F52"/>
                </a:solidFill>
                <a:latin typeface="Arial"/>
                <a:ea typeface="Arial"/>
                <a:cs typeface="Arial"/>
              </a:rPr>
              <a:t>Group 62</a:t>
            </a:r>
          </a:p>
        </p:txBody>
      </p:sp>
    </p:spTree>
    <p:extLst>
      <p:ext uri="{BB962C8B-B14F-4D97-AF65-F5344CB8AC3E}">
        <p14:creationId xmlns:p14="http://schemas.microsoft.com/office/powerpoint/2010/main" xmlns="" val="1344797154"/>
      </p:ext>
    </p:extLst>
  </p:cSld>
  <p:clrMapOvr>
    <a:masterClrMapping/>
  </p:clrMapOvr>
</p:sld>
</file>

<file path=ppt/theme/theme1.xml><?xml version="1.0" encoding="utf-8"?>
<a:theme xmlns:a="http://schemas.openxmlformats.org/drawingml/2006/main" name="ChatGPT">
  <a:themeElements>
    <a:clrScheme name="Maya Editorial">
      <a:dk1>
        <a:srgbClr val="000000"/>
      </a:dk1>
      <a:lt1>
        <a:srgbClr val="FFFFFF"/>
      </a:lt1>
      <a:dk2>
        <a:srgbClr val="25211F"/>
      </a:dk2>
      <a:lt2>
        <a:srgbClr val="FBF8F4"/>
      </a:lt2>
      <a:accent1>
        <a:srgbClr val="7A2F52"/>
      </a:accent1>
      <a:accent2>
        <a:srgbClr val="184B3E"/>
      </a:accent2>
      <a:accent3>
        <a:srgbClr val="D7B65D"/>
      </a:accent3>
      <a:accent4>
        <a:srgbClr val="C86057"/>
      </a:accent4>
      <a:accent5>
        <a:srgbClr val="506B54"/>
      </a:accent5>
      <a:accent6>
        <a:srgbClr val="665E88"/>
      </a:accent6>
      <a:hlink>
        <a:srgbClr val="7A2F52"/>
      </a:hlink>
      <a:folHlink>
        <a:srgbClr val="5F2440"/>
      </a:folHlink>
    </a:clrScheme>
    <a:fontScheme name="Office">
      <a:majorFont>
        <a:latin typeface="Calibri Light"/>
        <a:ea typeface="Calibri Light"/>
        <a:cs typeface="Calibri Light"/>
      </a:majorFont>
      <a:minorFont>
        <a:latin typeface="Calibri"/>
        <a:ea typeface="Calibri"/>
        <a:cs typeface="Calibri"/>
      </a:minorFont>
    </a:fontScheme>
    <a:fmtScheme name="Maya Editori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Maya Editorial">
      <a:dk1>
        <a:srgbClr val="000000"/>
      </a:dk1>
      <a:lt1>
        <a:srgbClr val="FFFFFF"/>
      </a:lt1>
      <a:dk2>
        <a:srgbClr val="25211F"/>
      </a:dk2>
      <a:lt2>
        <a:srgbClr val="FBF8F4"/>
      </a:lt2>
      <a:accent1>
        <a:srgbClr val="7A2F52"/>
      </a:accent1>
      <a:accent2>
        <a:srgbClr val="184B3E"/>
      </a:accent2>
      <a:accent3>
        <a:srgbClr val="D7B65D"/>
      </a:accent3>
      <a:accent4>
        <a:srgbClr val="C86057"/>
      </a:accent4>
      <a:accent5>
        <a:srgbClr val="506B54"/>
      </a:accent5>
      <a:accent6>
        <a:srgbClr val="665E88"/>
      </a:accent6>
      <a:hlink>
        <a:srgbClr val="7A2F52"/>
      </a:hlink>
      <a:folHlink>
        <a:srgbClr val="5F2440"/>
      </a:folHlink>
    </a:clrScheme>
    <a:fontScheme name="Office">
      <a:majorFont>
        <a:latin typeface="Calibri Light"/>
        <a:ea typeface="Calibri Light"/>
        <a:cs typeface="Calibri Light"/>
      </a:majorFont>
      <a:minorFont>
        <a:latin typeface="Calibri"/>
        <a:ea typeface="Calibri"/>
        <a:cs typeface="Calibri"/>
      </a:minorFont>
    </a:fontScheme>
    <a:fmtScheme name="Maya Editori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1020</Words>
  <Application>Walnut Exporter</Application>
  <DocSecurity>0</DocSecurity>
  <PresentationFormat>Custom</PresentationFormat>
  <Paragraphs>125</Paragraphs>
  <Slides>7</Slides>
  <Notes>7</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ChatGPT</vt:lpstr>
      <vt:lpstr>Slide 1</vt:lpstr>
      <vt:lpstr>Slide 2</vt:lpstr>
      <vt:lpstr>Slide 3</vt:lpstr>
      <vt:lpstr>Slide 4</vt:lpstr>
      <vt:lpstr>Slide 5</vt:lpstr>
      <vt:lpstr>Slide 6</vt:lpstr>
      <vt:lpstr>Slide 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ASWATH HARISH</cp:lastModifiedBy>
  <cp:revision>1</cp:revision>
  <dcterms:created xsi:type="dcterms:W3CDTF">2026-09-17T02:44:56Z</dcterms:created>
  <dcterms:modified xsi:type="dcterms:W3CDTF">2026-09-17T02:51:00Z</dcterms:modified>
</cp:coreProperties>
</file>